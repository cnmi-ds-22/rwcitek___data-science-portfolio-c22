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S5gsJNdPo86YWslsq42vdMlw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4020FD-2D2A-490A-8362-2CDC37F7B72C}">
  <a:tblStyle styleId="{C24020FD-2D2A-490A-8362-2CDC37F7B7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ea21377e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2ea21377e9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ea21377e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2ea21377e9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c0295488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dc029548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f5d9baceb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1f5d9bace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5d9bacebe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f5d9baceb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5d9bacebe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1f5d9baceb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eb06ee7f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2eb06ee7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learning.oreilly.com/library/view/machine-learning-with/9781491989371/ch18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learning.oreilly.com/library/view/machine-learning-with/9781491989371/ch18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learning.oreilly.com/library/view/machine-learning-with/9781491989371/ch18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Naive Bayes Classification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2ea21377e9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0431" y="1371588"/>
            <a:ext cx="5049837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2ea21377e9_1_26"/>
          <p:cNvSpPr txBox="1"/>
          <p:nvPr>
            <p:ph idx="4294967295"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have multiple predictors?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2ea21377e9_1_26"/>
          <p:cNvSpPr txBox="1"/>
          <p:nvPr/>
        </p:nvSpPr>
        <p:spPr>
          <a:xfrm>
            <a:off x="906900" y="6082075"/>
            <a:ext cx="73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Chapter 18 in Machine Learning with Python Cookbook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2ea21377e9_1_26"/>
          <p:cNvSpPr txBox="1"/>
          <p:nvPr/>
        </p:nvSpPr>
        <p:spPr>
          <a:xfrm>
            <a:off x="133850" y="2503200"/>
            <a:ext cx="8883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P(A|B,C,D…) =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P(~A|B,C,D…) = P(B,C,D,...|~A) * P(~A) / P(B,C,D,...)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P(A|B,C,D…) + P(~A|B,C,D…) = 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 / P(B,C,D,...) + P(B,C,D,...|~A) * P(~A) / P(B,C,D,...) = 1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* P(A) + P(B,C,D,...|~A) * P(~A) = P(B,C,D,...)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P(B,C,D,...|A) = P(B|A) * P(C|A) * P(D|A) …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081" y="1371588"/>
            <a:ext cx="5049837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>
            <p:ph idx="4294967295"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have multiple predictors?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06900" y="6082075"/>
            <a:ext cx="73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Chapter 18 in Machine Learning with Python Cookbook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242200" y="2446950"/>
            <a:ext cx="7994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Frequency counts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P(A) = count(A) / total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P(B) = count(B) / total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P(A|B) = count(A,B) / count(B)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P(B|A) = count(B,A) / count(A)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P(A|B,C,D…) = count(A,B,C,D,...) /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count(B,C,D,...)</a:t>
            </a:r>
            <a:endParaRPr b="1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P(B,C,D…|A) = count(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B,C,D,...,A) / count(A)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2ea21377e9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081" y="1371588"/>
            <a:ext cx="5049837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2ea21377e9_1_19"/>
          <p:cNvSpPr txBox="1"/>
          <p:nvPr>
            <p:ph idx="4294967295" type="ctrTitle"/>
          </p:nvPr>
        </p:nvSpPr>
        <p:spPr>
          <a:xfrm>
            <a:off x="685800" y="375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have multiple predictors?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2ea21377e9_1_19"/>
          <p:cNvSpPr txBox="1"/>
          <p:nvPr/>
        </p:nvSpPr>
        <p:spPr>
          <a:xfrm>
            <a:off x="906900" y="6082075"/>
            <a:ext cx="733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Chapter 18 in Machine Learning with Python Cookbook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2ea21377e9_1_19"/>
          <p:cNvSpPr txBox="1"/>
          <p:nvPr/>
        </p:nvSpPr>
        <p:spPr>
          <a:xfrm>
            <a:off x="241850" y="2446950"/>
            <a:ext cx="8842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counts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P(A|B,C,D…) = count(A,B,C,D,...) / count(B,C,D,...)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P(~A|B,C,D…) = count(~A,B,C,D,...) / count(B,C,D,...)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P(A|B,C,D…) + P(~A|B,C,D…) =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count(A,B,C,D,...) / count(B,C,D,...) + count(~A,B,C,D,...) / count(B,C,D,...) =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count(A,B,C,D,...) + count(~A,B,C,D,...) = count(B,C,D,...) 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c02954885_0_0"/>
          <p:cNvSpPr txBox="1"/>
          <p:nvPr/>
        </p:nvSpPr>
        <p:spPr>
          <a:xfrm>
            <a:off x="4014075" y="1061950"/>
            <a:ext cx="46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Calculate the prior probability of each class.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dc02954885_0_0"/>
          <p:cNvSpPr txBox="1"/>
          <p:nvPr/>
        </p:nvSpPr>
        <p:spPr>
          <a:xfrm>
            <a:off x="4014075" y="2634324"/>
            <a:ext cx="492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600" u="none" cap="none" strike="noStrike">
                <a:solidFill>
                  <a:srgbClr val="3D425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Calculate the conditional probability for each category given the class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dc02954885_0_0"/>
          <p:cNvSpPr txBox="1"/>
          <p:nvPr/>
        </p:nvSpPr>
        <p:spPr>
          <a:xfrm>
            <a:off x="4168600" y="242050"/>
            <a:ext cx="426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rainy and mild?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dc02954885_0_0"/>
          <p:cNvSpPr txBox="1"/>
          <p:nvPr/>
        </p:nvSpPr>
        <p:spPr>
          <a:xfrm>
            <a:off x="4091325" y="4292800"/>
            <a:ext cx="477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Calculate the posterior probability using Bayes Theorem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gdc02954885_0_0"/>
          <p:cNvGraphicFramePr/>
          <p:nvPr/>
        </p:nvGraphicFramePr>
        <p:xfrm>
          <a:off x="414150" y="4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{C24020FD-2D2A-490A-8362-2CDC37F7B72C}</a:tableStyleId>
              </a:tblPr>
              <a:tblGrid>
                <a:gridCol w="1158050"/>
                <a:gridCol w="1158050"/>
                <a:gridCol w="1158050"/>
              </a:tblGrid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Weather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Play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8" name="Google Shape;118;gdc02954885_0_0"/>
          <p:cNvSpPr txBox="1"/>
          <p:nvPr/>
        </p:nvSpPr>
        <p:spPr>
          <a:xfrm>
            <a:off x="1341800" y="6127825"/>
            <a:ext cx="14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5d9bacebe_0_13"/>
          <p:cNvSpPr txBox="1"/>
          <p:nvPr/>
        </p:nvSpPr>
        <p:spPr>
          <a:xfrm>
            <a:off x="4014075" y="1061950"/>
            <a:ext cx="46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Calculate the prior probability of each class.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f5d9bacebe_0_13"/>
          <p:cNvSpPr txBox="1"/>
          <p:nvPr/>
        </p:nvSpPr>
        <p:spPr>
          <a:xfrm>
            <a:off x="4014075" y="2634324"/>
            <a:ext cx="492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600" u="none" cap="none" strike="noStrike">
                <a:solidFill>
                  <a:srgbClr val="3D425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Calculate the conditional probability for each category given the class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f5d9bacebe_0_13"/>
          <p:cNvSpPr txBox="1"/>
          <p:nvPr/>
        </p:nvSpPr>
        <p:spPr>
          <a:xfrm>
            <a:off x="4388225" y="1425825"/>
            <a:ext cx="347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P(No)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P(Rainy,Mild) = 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f5d9bacebe_0_13"/>
          <p:cNvSpPr txBox="1"/>
          <p:nvPr/>
        </p:nvSpPr>
        <p:spPr>
          <a:xfrm>
            <a:off x="4388225" y="3176699"/>
            <a:ext cx="347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P(Rainy,Mild|No)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P(Rainy,Mild|Yes)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f5d9bacebe_0_13"/>
          <p:cNvSpPr txBox="1"/>
          <p:nvPr/>
        </p:nvSpPr>
        <p:spPr>
          <a:xfrm>
            <a:off x="4168600" y="242050"/>
            <a:ext cx="426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rainy and mild?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f5d9bacebe_0_13"/>
          <p:cNvSpPr txBox="1"/>
          <p:nvPr/>
        </p:nvSpPr>
        <p:spPr>
          <a:xfrm>
            <a:off x="4091325" y="4292800"/>
            <a:ext cx="477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Calculate the posterior probability using Bayes Theorem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g1f5d9bacebe_0_13"/>
          <p:cNvGraphicFramePr/>
          <p:nvPr/>
        </p:nvGraphicFramePr>
        <p:xfrm>
          <a:off x="414150" y="4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{C24020FD-2D2A-490A-8362-2CDC37F7B72C}</a:tableStyleId>
              </a:tblPr>
              <a:tblGrid>
                <a:gridCol w="1158050"/>
                <a:gridCol w="1158050"/>
                <a:gridCol w="1158050"/>
              </a:tblGrid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Weather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Play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g1f5d9bacebe_0_13"/>
          <p:cNvSpPr txBox="1"/>
          <p:nvPr/>
        </p:nvSpPr>
        <p:spPr>
          <a:xfrm>
            <a:off x="4014075" y="5096425"/>
            <a:ext cx="5450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P(Yes|Rainy,Mild)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 Mild|Yes) * P(Yes) / P(Rainy,Mild) =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f5d9bacebe_0_13"/>
          <p:cNvSpPr txBox="1"/>
          <p:nvPr/>
        </p:nvSpPr>
        <p:spPr>
          <a:xfrm>
            <a:off x="1341800" y="6127825"/>
            <a:ext cx="14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f5d9bacebe_0_13"/>
          <p:cNvSpPr txBox="1"/>
          <p:nvPr/>
        </p:nvSpPr>
        <p:spPr>
          <a:xfrm>
            <a:off x="4921625" y="534361"/>
            <a:ext cx="347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 Rainy, Mild) = ??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5d9bacebe_0_39"/>
          <p:cNvSpPr txBox="1"/>
          <p:nvPr/>
        </p:nvSpPr>
        <p:spPr>
          <a:xfrm>
            <a:off x="4014075" y="1061950"/>
            <a:ext cx="46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Calculate the prior probability of each class.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f5d9bacebe_0_39"/>
          <p:cNvSpPr txBox="1"/>
          <p:nvPr/>
        </p:nvSpPr>
        <p:spPr>
          <a:xfrm>
            <a:off x="4014075" y="2634324"/>
            <a:ext cx="492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600" u="none" cap="none" strike="noStrike">
                <a:solidFill>
                  <a:srgbClr val="3D425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Calculate the conditional probability for each category given the class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f5d9bacebe_0_39"/>
          <p:cNvSpPr txBox="1"/>
          <p:nvPr/>
        </p:nvSpPr>
        <p:spPr>
          <a:xfrm>
            <a:off x="4388225" y="1425825"/>
            <a:ext cx="347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P(No) = 5/13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P(Yes) = 8/13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P(Rainy,Mild) = 3/13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f5d9bacebe_0_39"/>
          <p:cNvSpPr txBox="1"/>
          <p:nvPr/>
        </p:nvSpPr>
        <p:spPr>
          <a:xfrm>
            <a:off x="4388225" y="3176699"/>
            <a:ext cx="347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P(Rainy,Mild|No) = 1/5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P(Rainy,Mild|Yes) = 2/8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f5d9bacebe_0_39"/>
          <p:cNvSpPr txBox="1"/>
          <p:nvPr/>
        </p:nvSpPr>
        <p:spPr>
          <a:xfrm>
            <a:off x="4168600" y="242050"/>
            <a:ext cx="426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rainy and mild?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1f5d9bacebe_0_39"/>
          <p:cNvSpPr txBox="1"/>
          <p:nvPr/>
        </p:nvSpPr>
        <p:spPr>
          <a:xfrm>
            <a:off x="4091325" y="4292800"/>
            <a:ext cx="477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Calculate the posterior probability using Bayes Theorem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g1f5d9bacebe_0_39"/>
          <p:cNvGraphicFramePr/>
          <p:nvPr/>
        </p:nvGraphicFramePr>
        <p:xfrm>
          <a:off x="414150" y="4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{C24020FD-2D2A-490A-8362-2CDC37F7B72C}</a:tableStyleId>
              </a:tblPr>
              <a:tblGrid>
                <a:gridCol w="1158050"/>
                <a:gridCol w="1158050"/>
                <a:gridCol w="1158050"/>
              </a:tblGrid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Weather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Play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g1f5d9bacebe_0_39"/>
          <p:cNvSpPr txBox="1"/>
          <p:nvPr/>
        </p:nvSpPr>
        <p:spPr>
          <a:xfrm>
            <a:off x="4014075" y="5096425"/>
            <a:ext cx="5270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P(Yes|Rainy,Mild) =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 Mild|Yes) * P(Yes) / P(Rainy,Mild) =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1f5d9bacebe_0_39"/>
          <p:cNvSpPr txBox="1"/>
          <p:nvPr/>
        </p:nvSpPr>
        <p:spPr>
          <a:xfrm>
            <a:off x="1341800" y="6127825"/>
            <a:ext cx="14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f5d9bacebe_0_39"/>
          <p:cNvSpPr txBox="1"/>
          <p:nvPr/>
        </p:nvSpPr>
        <p:spPr>
          <a:xfrm>
            <a:off x="4921625" y="534361"/>
            <a:ext cx="347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 Rainy, Mild) = ??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5d9bacebe_0_67"/>
          <p:cNvSpPr txBox="1"/>
          <p:nvPr/>
        </p:nvSpPr>
        <p:spPr>
          <a:xfrm>
            <a:off x="4014075" y="1061950"/>
            <a:ext cx="46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Calculate the prior probability of each class.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1f5d9bacebe_0_67"/>
          <p:cNvSpPr txBox="1"/>
          <p:nvPr/>
        </p:nvSpPr>
        <p:spPr>
          <a:xfrm>
            <a:off x="4014075" y="2634324"/>
            <a:ext cx="492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600" u="none" cap="none" strike="noStrike">
                <a:solidFill>
                  <a:srgbClr val="3D425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Calculate the conditional probability for each category given the class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1f5d9bacebe_0_67"/>
          <p:cNvSpPr txBox="1"/>
          <p:nvPr/>
        </p:nvSpPr>
        <p:spPr>
          <a:xfrm>
            <a:off x="4388225" y="1425825"/>
            <a:ext cx="347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P(No) = 5/13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P(Yes) = 8/13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P(Rainy,Mild) = 3/13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f5d9bacebe_0_67"/>
          <p:cNvSpPr txBox="1"/>
          <p:nvPr/>
        </p:nvSpPr>
        <p:spPr>
          <a:xfrm>
            <a:off x="4388225" y="3176699"/>
            <a:ext cx="347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P(Rainy,Mild|No) = 1/5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P(Rainy,Mild|Yes) = 2/8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f5d9bacebe_0_67"/>
          <p:cNvSpPr txBox="1"/>
          <p:nvPr/>
        </p:nvSpPr>
        <p:spPr>
          <a:xfrm>
            <a:off x="4168600" y="242050"/>
            <a:ext cx="426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rainy and mild?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f5d9bacebe_0_67"/>
          <p:cNvSpPr txBox="1"/>
          <p:nvPr/>
        </p:nvSpPr>
        <p:spPr>
          <a:xfrm>
            <a:off x="4091325" y="4292800"/>
            <a:ext cx="477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Calculate the posterior probability using Bayes Theorem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g1f5d9bacebe_0_67"/>
          <p:cNvGraphicFramePr/>
          <p:nvPr/>
        </p:nvGraphicFramePr>
        <p:xfrm>
          <a:off x="414150" y="4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{C24020FD-2D2A-490A-8362-2CDC37F7B72C}</a:tableStyleId>
              </a:tblPr>
              <a:tblGrid>
                <a:gridCol w="1158050"/>
                <a:gridCol w="1158050"/>
                <a:gridCol w="1158050"/>
              </a:tblGrid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Weather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Play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8" name="Google Shape;158;g1f5d9bacebe_0_67"/>
          <p:cNvSpPr txBox="1"/>
          <p:nvPr/>
        </p:nvSpPr>
        <p:spPr>
          <a:xfrm>
            <a:off x="4014075" y="4867825"/>
            <a:ext cx="5270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P(Yes|Rainy,Mild)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P(Rainy, Mild|Yes) * P(Yes) / P(Rainy,Mild)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(2/8) * (8/13) * (13/3)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2/3 =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66.6%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1f5d9bacebe_0_67"/>
          <p:cNvSpPr txBox="1"/>
          <p:nvPr/>
        </p:nvSpPr>
        <p:spPr>
          <a:xfrm>
            <a:off x="1341800" y="6127825"/>
            <a:ext cx="14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f5d9bacebe_0_67"/>
          <p:cNvSpPr txBox="1"/>
          <p:nvPr/>
        </p:nvSpPr>
        <p:spPr>
          <a:xfrm>
            <a:off x="4921625" y="534361"/>
            <a:ext cx="347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P(Yes| Rainy, Mild) = ??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eb06ee7fa_0_0"/>
          <p:cNvSpPr txBox="1"/>
          <p:nvPr/>
        </p:nvSpPr>
        <p:spPr>
          <a:xfrm>
            <a:off x="4014075" y="1061950"/>
            <a:ext cx="46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2eb06ee7fa_0_0"/>
          <p:cNvSpPr txBox="1"/>
          <p:nvPr/>
        </p:nvSpPr>
        <p:spPr>
          <a:xfrm>
            <a:off x="4168600" y="242050"/>
            <a:ext cx="426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Will we play tennis if it is rainy and mild?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g32eb06ee7fa_0_0"/>
          <p:cNvGraphicFramePr/>
          <p:nvPr/>
        </p:nvGraphicFramePr>
        <p:xfrm>
          <a:off x="414150" y="4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{C24020FD-2D2A-490A-8362-2CDC37F7B72C}</a:tableStyleId>
              </a:tblPr>
              <a:tblGrid>
                <a:gridCol w="1158050"/>
                <a:gridCol w="1158050"/>
                <a:gridCol w="1158050"/>
              </a:tblGrid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Weather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Play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Cool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Sunny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Rainy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Mild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6B8AF"/>
                    </a:solidFill>
                  </a:tcPr>
                </a:tc>
              </a:tr>
              <a:tr h="39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Overcast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g32eb06ee7fa_0_0"/>
          <p:cNvSpPr txBox="1"/>
          <p:nvPr/>
        </p:nvSpPr>
        <p:spPr>
          <a:xfrm>
            <a:off x="1341800" y="6127825"/>
            <a:ext cx="145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= 13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2eb06ee7fa_0_0"/>
          <p:cNvSpPr txBox="1"/>
          <p:nvPr/>
        </p:nvSpPr>
        <p:spPr>
          <a:xfrm>
            <a:off x="4014075" y="981250"/>
            <a:ext cx="5130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approach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P(A|B,C,D…)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count(A,B,C,D,...) / count(B,C,D,...)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 Yes | Rainy, Mild 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count(Yes, Rainy, Mild) / count(Rainy, Mild)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= ??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count(Rainy, Mild)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 = 3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count(Yes, Rainy, Mild) 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= 2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count(Yes, Rainy, Mild) / count(Rainy, Mild)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= 2/3 = 66.6%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2020-07-09T18:56:36Z</dcterms:created>
  <dc:creator>Cliff Lewis</dc:creator>
</cp:coreProperties>
</file>
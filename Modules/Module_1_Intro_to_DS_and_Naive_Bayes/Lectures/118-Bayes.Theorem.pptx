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tuDQ+9vF/7eO6pTiNADmnprA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Bayes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Bayes’ Theorem? 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Bayes’ Theorem is a way to calculate a conditional probability. It is a simple concept but it has lead to its own branch of statistics (Bayesian) and it is the basis for numerous ML models.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But </a:t>
            </a:r>
            <a:r>
              <a:rPr i="1" lang="en">
                <a:solidFill>
                  <a:schemeClr val="dk1"/>
                </a:solidFill>
              </a:rPr>
              <a:t>what is a conditional probability</a:t>
            </a:r>
            <a:r>
              <a:rPr lang="en">
                <a:solidFill>
                  <a:schemeClr val="dk1"/>
                </a:solidFill>
              </a:rPr>
              <a:t>? Let’s talk about conditional probabilities using an example.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775" y="749813"/>
            <a:ext cx="3162880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5731825" y="4570100"/>
            <a:ext cx="26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Thomas 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Estimating Probability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Example Problem: </a:t>
            </a:r>
            <a:r>
              <a:rPr lang="en">
                <a:solidFill>
                  <a:schemeClr val="dk1"/>
                </a:solidFill>
              </a:rPr>
              <a:t>Have you ever wondered how your phone can predict your next location?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76" y="2126400"/>
            <a:ext cx="3477724" cy="23213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4128475" y="1979950"/>
            <a:ext cx="4060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 your phone collects data at regular time intervals and finds the following: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189625" y="3528325"/>
            <a:ext cx="437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phone might think, “Well, the probability that they are at home is higher so let’s always predict they are going home”. But can your phone do better than this?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6650" y="3139850"/>
            <a:ext cx="3570028" cy="3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6650" y="2675175"/>
            <a:ext cx="3533966" cy="3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Marginal &amp; Joint Probability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152475"/>
            <a:ext cx="3839700" cy="23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rgbClr val="E69138"/>
                </a:solidFill>
              </a:rPr>
              <a:t>marginal probability</a:t>
            </a:r>
            <a:r>
              <a:rPr lang="en">
                <a:solidFill>
                  <a:schemeClr val="dk1"/>
                </a:solidFill>
              </a:rPr>
              <a:t> of A is denoted P(A) and gives the probability of event A occurring.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rgbClr val="0B5394"/>
                </a:solidFill>
              </a:rPr>
              <a:t>joint probability</a:t>
            </a:r>
            <a:r>
              <a:rPr lang="en">
                <a:solidFill>
                  <a:schemeClr val="dk1"/>
                </a:solidFill>
              </a:rPr>
              <a:t> of A and B is denoted P(A and B) or P(A∩B) and gives the probability of both events A and B occurring.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950" y="3676400"/>
            <a:ext cx="3223375" cy="2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25" y="4174349"/>
            <a:ext cx="3639000" cy="2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4926800" y="878150"/>
            <a:ext cx="32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we consider the time of day?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986950" y="1471200"/>
            <a:ext cx="1672800" cy="15909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245600" y="1471200"/>
            <a:ext cx="1672800" cy="1590900"/>
          </a:xfrm>
          <a:prstGeom prst="ellipse">
            <a:avLst/>
          </a:prstGeom>
          <a:solidFill>
            <a:srgbClr val="278DED">
              <a:alpha val="309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335000" y="17755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6754750" y="17755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Work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431000" y="206160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824300" y="20191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6092875" y="20191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367950" y="3223800"/>
            <a:ext cx="1672800" cy="15909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017000" y="3223800"/>
            <a:ext cx="1672800" cy="1590900"/>
          </a:xfrm>
          <a:prstGeom prst="ellipse">
            <a:avLst/>
          </a:prstGeom>
          <a:solidFill>
            <a:srgbClr val="278DED">
              <a:alpha val="309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5218050" y="3461413"/>
            <a:ext cx="10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Afternoon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7059550" y="34519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Work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354800" y="366180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7052900" y="36955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245275" y="36955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Conditional Probability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311700" y="1152475"/>
            <a:ext cx="3839700" cy="23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rgbClr val="A64D79"/>
                </a:solidFill>
              </a:rPr>
              <a:t>conditional probability</a:t>
            </a:r>
            <a:r>
              <a:rPr lang="en">
                <a:solidFill>
                  <a:schemeClr val="dk1"/>
                </a:solidFill>
              </a:rPr>
              <a:t> of A given B is denoted P(A|B) and gives the probability of event A occurring given event B has occurred.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926800" y="878150"/>
            <a:ext cx="32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we consider the time of day?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925" y="2729850"/>
            <a:ext cx="3617299" cy="2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925" y="3395475"/>
            <a:ext cx="3292546" cy="2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925" y="3756300"/>
            <a:ext cx="3794100" cy="253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4986950" y="1471200"/>
            <a:ext cx="1672800" cy="15909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245600" y="1471200"/>
            <a:ext cx="1672800" cy="1590900"/>
          </a:xfrm>
          <a:prstGeom prst="ellipse">
            <a:avLst/>
          </a:prstGeom>
          <a:solidFill>
            <a:srgbClr val="278DED">
              <a:alpha val="309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5335000" y="17755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754750" y="17755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Work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5431000" y="206160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6824300" y="20191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092875" y="20191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367950" y="3223800"/>
            <a:ext cx="1672800" cy="15909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017000" y="3223800"/>
            <a:ext cx="1672800" cy="1590900"/>
          </a:xfrm>
          <a:prstGeom prst="ellipse">
            <a:avLst/>
          </a:prstGeom>
          <a:solidFill>
            <a:srgbClr val="278DED">
              <a:alpha val="309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5218050" y="3461413"/>
            <a:ext cx="10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Afternoon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059550" y="34519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Work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5354800" y="366180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7052900" y="36955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245275" y="3695550"/>
            <a:ext cx="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Bayes’ Theorem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So what role does Bayes’ Theorem play in all of this?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00" y="1938888"/>
            <a:ext cx="3943350" cy="34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6"/>
          <p:cNvCxnSpPr/>
          <p:nvPr/>
        </p:nvCxnSpPr>
        <p:spPr>
          <a:xfrm flipH="1">
            <a:off x="4869775" y="2075650"/>
            <a:ext cx="7299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6"/>
          <p:cNvSpPr txBox="1"/>
          <p:nvPr/>
        </p:nvSpPr>
        <p:spPr>
          <a:xfrm>
            <a:off x="5629750" y="1859925"/>
            <a:ext cx="2463300" cy="40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 and B are independent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858950" y="3444238"/>
            <a:ext cx="1003500" cy="40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4200" y="3382388"/>
            <a:ext cx="29718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1129050" y="4060050"/>
            <a:ext cx="705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key to this is we can estimate P(A | B) from P(B | A). Bayes allows us to incorporate additional information to make better predictions.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200" y="2489450"/>
            <a:ext cx="42957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 Theorem Example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311700" y="1152475"/>
            <a:ext cx="83112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 police have a breathalyzer test that is able to identify a drunk person as being drunk 100% of the time. This test also incorrectly identifies a non-drunk person as being drunk 5% of the time. (Note - this is called the false positive rate). We also know that 1 out of 100 people on the road are driving drunk.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someone gets pulled over and gets a positive breathalyzer, what is the probability that the person is drunk?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275" y="3012150"/>
            <a:ext cx="3452550" cy="19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 Theorem Example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311700" y="1057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Say 100 people are given the breathalyzer. We know that 1 out of the 100 will be drunk and that person will have a positive breathalyzer. We also know that 5% of the remaining 99 will get a positive breathalyzer even though they are not drunk.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018575" y="2259125"/>
            <a:ext cx="1512900" cy="109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Drunk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Breathalyzer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875375" y="2259125"/>
            <a:ext cx="1512900" cy="1099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~5 Non Drunk People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Breathalyzer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401850" y="3771900"/>
            <a:ext cx="23298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732175" y="2642350"/>
            <a:ext cx="796800" cy="25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678025" y="2349875"/>
            <a:ext cx="279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probability that someone is drunk given a positive breathalyzer is ~1/6 = 17%!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 Theorem Example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242025" y="1057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Say 100 people are given the breathalyzer. We know that 1 out of the 100 will be drunk and that person will have a positive breathalyzer. We also know that 5% of the remaining 99 will get a positive breathalyzer even though they are not drunk.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018575" y="2259125"/>
            <a:ext cx="1512900" cy="109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Drunk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Breathalyzer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875375" y="2259125"/>
            <a:ext cx="1512900" cy="1099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~5 Non Drunk People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Breathalyzer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732175" y="2642350"/>
            <a:ext cx="796800" cy="25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678025" y="2349875"/>
            <a:ext cx="279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probability that someone is drunk given a positive breathalyzer is ~1/6 = 17%!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42025" y="3358325"/>
            <a:ext cx="336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Person is Drunk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Positive Breathalyzer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400" y="4095900"/>
            <a:ext cx="319544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9850" y="3968850"/>
            <a:ext cx="2891681" cy="95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Bayes’ Theorem Example 2</a:t>
            </a:r>
            <a:endParaRPr/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1% of women at age forty who participate in routine screening have breast cancer.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80% of women with breast cancer will get positive mammograms. 9.6% of women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without breast cancer will also get positive mammograms. A woman in this 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group had a positive mammography in a routine screening. What is the probability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she actually has breast cancer?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901975" y="2885350"/>
            <a:ext cx="2132700" cy="198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2118650" y="3774950"/>
            <a:ext cx="250800" cy="2508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2441600" y="3060075"/>
            <a:ext cx="10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Women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654900" y="3250575"/>
            <a:ext cx="1190100" cy="585000"/>
          </a:xfrm>
          <a:prstGeom prst="rect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 with cancer (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0"/>
          <p:cNvCxnSpPr>
            <a:stCxn id="174" idx="3"/>
            <a:endCxn id="172" idx="1"/>
          </p:cNvCxnSpPr>
          <p:nvPr/>
        </p:nvCxnSpPr>
        <p:spPr>
          <a:xfrm>
            <a:off x="1845000" y="3543075"/>
            <a:ext cx="310500" cy="26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0"/>
          <p:cNvSpPr txBox="1"/>
          <p:nvPr/>
        </p:nvSpPr>
        <p:spPr>
          <a:xfrm>
            <a:off x="2068375" y="3504350"/>
            <a:ext cx="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26175" y="2885350"/>
            <a:ext cx="2132700" cy="198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242850" y="3774950"/>
            <a:ext cx="250800" cy="250800"/>
          </a:xfrm>
          <a:prstGeom prst="ellipse">
            <a:avLst/>
          </a:prstGeom>
          <a:solidFill>
            <a:srgbClr val="F67979">
              <a:alpha val="4156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565800" y="3060075"/>
            <a:ext cx="10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Women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360200" y="3695100"/>
            <a:ext cx="627300" cy="572700"/>
          </a:xfrm>
          <a:prstGeom prst="ellipse">
            <a:avLst/>
          </a:prstGeom>
          <a:solidFill>
            <a:srgbClr val="73AB97">
              <a:alpha val="55686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5192575" y="3504350"/>
            <a:ext cx="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5497375" y="3732950"/>
            <a:ext cx="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7210875" y="3250575"/>
            <a:ext cx="1190100" cy="985200"/>
          </a:xfrm>
          <a:prstGeom prst="rect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 with Positive Mammogram (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0"/>
          <p:cNvCxnSpPr>
            <a:stCxn id="183" idx="1"/>
            <a:endCxn id="180" idx="6"/>
          </p:cNvCxnSpPr>
          <p:nvPr/>
        </p:nvCxnSpPr>
        <p:spPr>
          <a:xfrm flipH="1">
            <a:off x="5987475" y="3743175"/>
            <a:ext cx="1223400" cy="2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Bayes’ Theorem Example 2 Cont. </a:t>
            </a:r>
            <a:endParaRPr/>
          </a:p>
        </p:txBody>
      </p:sp>
      <p:sp>
        <p:nvSpPr>
          <p:cNvPr id="190" name="Google Shape;190;p11"/>
          <p:cNvSpPr txBox="1"/>
          <p:nvPr>
            <p:ph idx="1" type="body"/>
          </p:nvPr>
        </p:nvSpPr>
        <p:spPr>
          <a:xfrm>
            <a:off x="311700" y="2392950"/>
            <a:ext cx="85206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1% of women have breast cancer.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80% of those women get a positive mammogram, and 9.6% of the women without breast cancer get a positive mammogram too.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2813" y="2916625"/>
            <a:ext cx="13616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9025" y="4113250"/>
            <a:ext cx="3699725" cy="9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641800" y="1017725"/>
            <a:ext cx="729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A be the event the woman has breast cancer, and B be the event a women gets a positive mammogram.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(A|B) = \frac{P(B|A)P(A)}{P(B)}" id="194" name="Google Shape;19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1725" y="1574822"/>
            <a:ext cx="2623871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Bayes’ Theorem Example Cont. </a:t>
            </a:r>
            <a:endParaRPr/>
          </a:p>
        </p:txBody>
      </p:sp>
      <p:sp>
        <p:nvSpPr>
          <p:cNvPr id="200" name="Google Shape;200;p12"/>
          <p:cNvSpPr txBox="1"/>
          <p:nvPr>
            <p:ph idx="1" type="body"/>
          </p:nvPr>
        </p:nvSpPr>
        <p:spPr>
          <a:xfrm>
            <a:off x="311700" y="1152475"/>
            <a:ext cx="83247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We can get P(B | A) straight from the problem statement. Remember that 80% of women with breast cancer get a positive mammogram.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Now we can plug everything into Bayes’ theorem.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chemeClr val="dk1"/>
                </a:solidFill>
              </a:rPr>
              <a:t>There is about a 7.8% chance of actually having breast cancer given a positive mammogram.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5776" y="2002450"/>
            <a:ext cx="2154975" cy="3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8984" y="3301975"/>
            <a:ext cx="344285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
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6" roundtripDataSignature="AMtx7milHSINgPYVGHZiuJiz5tVaiTN4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029478-CFFF-4036-BE37-8EF22F031456}">
  <a:tblStyle styleId="{A3029478-CFFF-4036-BE37-8EF22F03145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d28cdfdd2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21d28cdfdd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56cd4d1c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c56cd4d1c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c56cd4d1c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c56cd4d1c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56cd4d1c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c56cd4d1c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56cd4d1c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g3c56cd4d1c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4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4.gif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.png"/><Relationship Id="rId4" Type="http://schemas.openxmlformats.org/officeDocument/2006/relationships/image" Target="../media/image4.gif"/><Relationship Id="rId5" Type="http://schemas.openxmlformats.org/officeDocument/2006/relationships/hyperlink" Target="https://en.wikipedia.org/wiki/Combination" TargetMode="External"/><Relationship Id="rId6" Type="http://schemas.openxmlformats.org/officeDocument/2006/relationships/hyperlink" Target="https://en.wikipedia.org/wiki/Euler%27s_constant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Intro to Probability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/>
        </p:nvSpPr>
        <p:spPr>
          <a:xfrm>
            <a:off x="457200" y="344404"/>
            <a:ext cx="82296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59"/>
              <a:buFont typeface="Arial"/>
              <a:buNone/>
            </a:pPr>
            <a:r>
              <a:rPr b="0" i="0" lang="en" sz="3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is Probability Important in Data Science?</a:t>
            </a:r>
            <a:endParaRPr b="0" i="0" sz="33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51175" y="1278850"/>
            <a:ext cx="86352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lets us model uncertainties.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Probabilities can be used to make classifications.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lets us make statements about a population.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Many ML methods depend on probability distribution assumptions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Linear Regression assumes the residuals are normally distributed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○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Gaussian Naive Bayes assumes the predictors are normally distributed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distributions can be useful to create ‘toy’ datasets to test out methods.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Probability?</a:t>
            </a:r>
            <a:endParaRPr/>
          </a:p>
        </p:txBody>
      </p:sp>
      <p:pic>
        <p:nvPicPr>
          <p:cNvPr descr="P(A) = \frac{\# \; of \; ways \; A \; can \; happen}{total \; number \; of \; outcomes}"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275" y="1461449"/>
            <a:ext cx="7184050" cy="111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 txBox="1"/>
          <p:nvPr/>
        </p:nvSpPr>
        <p:spPr>
          <a:xfrm>
            <a:off x="550700" y="3109175"/>
            <a:ext cx="7916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is an event. We read P(A) as “the probability of event A” or “the probability of A”. Note that the probability of a single event is called a </a:t>
            </a: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marginal probability</a:t>
            </a: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idx="1" type="body"/>
          </p:nvPr>
        </p:nvSpPr>
        <p:spPr>
          <a:xfrm>
            <a:off x="311700" y="12567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pulling out a blue marble from a bag that contains 3 yellow marbles, 4 green marbles, and 2 blue marbles?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3" name="Google Shape;7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Basic Probability Examples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"/>
          <p:cNvSpPr txBox="1"/>
          <p:nvPr>
            <p:ph idx="1" type="body"/>
          </p:nvPr>
        </p:nvSpPr>
        <p:spPr>
          <a:xfrm>
            <a:off x="311700" y="12567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pulling out a blue marble from a bag that contains 3 yellow marbles, 4 green marbles, and 2 blue marbles?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Basic Probability Examples</a:t>
            </a:r>
            <a:endParaRPr/>
          </a:p>
        </p:txBody>
      </p:sp>
      <p:grpSp>
        <p:nvGrpSpPr>
          <p:cNvPr id="80" name="Google Shape;80;p5"/>
          <p:cNvGrpSpPr/>
          <p:nvPr/>
        </p:nvGrpSpPr>
        <p:grpSpPr>
          <a:xfrm>
            <a:off x="4956325" y="2688625"/>
            <a:ext cx="3702800" cy="344100"/>
            <a:chOff x="4956325" y="2688625"/>
            <a:chExt cx="3702800" cy="344100"/>
          </a:xfrm>
        </p:grpSpPr>
        <p:sp>
          <p:nvSpPr>
            <p:cNvPr id="81" name="Google Shape;81;p5"/>
            <p:cNvSpPr/>
            <p:nvPr/>
          </p:nvSpPr>
          <p:spPr>
            <a:xfrm>
              <a:off x="4956325" y="2688625"/>
              <a:ext cx="355800" cy="3441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5376700" y="2688625"/>
              <a:ext cx="355800" cy="3441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5797075" y="2688625"/>
              <a:ext cx="355800" cy="3441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217450" y="2688625"/>
              <a:ext cx="355800" cy="344100"/>
            </a:xfrm>
            <a:prstGeom prst="ellipse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6637825" y="2688625"/>
              <a:ext cx="355800" cy="344100"/>
            </a:xfrm>
            <a:prstGeom prst="ellipse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7058200" y="2688625"/>
              <a:ext cx="355800" cy="344100"/>
            </a:xfrm>
            <a:prstGeom prst="ellipse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7478575" y="2688625"/>
              <a:ext cx="355800" cy="344100"/>
            </a:xfrm>
            <a:prstGeom prst="ellipse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7898950" y="2688625"/>
              <a:ext cx="355800" cy="344100"/>
            </a:xfrm>
            <a:prstGeom prst="ellipse">
              <a:avLst/>
            </a:prstGeom>
            <a:solidFill>
              <a:srgbClr val="3C78D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8303325" y="2688625"/>
              <a:ext cx="355800" cy="344100"/>
            </a:xfrm>
            <a:prstGeom prst="ellipse">
              <a:avLst/>
            </a:prstGeom>
            <a:solidFill>
              <a:srgbClr val="3C78D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5"/>
          <p:cNvSpPr/>
          <p:nvPr/>
        </p:nvSpPr>
        <p:spPr>
          <a:xfrm rot="-5400000">
            <a:off x="6561650" y="1754650"/>
            <a:ext cx="449100" cy="3613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5771725" y="3843450"/>
            <a:ext cx="20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 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(Blue) = \frac{2}{9}"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025" y="2260638"/>
            <a:ext cx="3702799" cy="1408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Basic Probability Examples</a:t>
            </a:r>
            <a:endParaRPr/>
          </a:p>
        </p:txBody>
      </p:sp>
      <p:sp>
        <p:nvSpPr>
          <p:cNvPr id="98" name="Google Shape;98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pulling out a </a:t>
            </a:r>
            <a:r>
              <a:rPr b="1" lang="en">
                <a:solidFill>
                  <a:schemeClr val="dk1"/>
                </a:solidFill>
              </a:rPr>
              <a:t>non</a:t>
            </a:r>
            <a:r>
              <a:rPr lang="en">
                <a:solidFill>
                  <a:schemeClr val="dk1"/>
                </a:solidFill>
              </a:rPr>
              <a:t>-blue marble from a bag that contains 3 yellow marbles, 4 green marbles, and 2 blue marbles?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pulling out a </a:t>
            </a:r>
            <a:r>
              <a:rPr b="1" lang="en">
                <a:solidFill>
                  <a:schemeClr val="dk1"/>
                </a:solidFill>
              </a:rPr>
              <a:t>non</a:t>
            </a:r>
            <a:r>
              <a:rPr lang="en">
                <a:solidFill>
                  <a:schemeClr val="dk1"/>
                </a:solidFill>
              </a:rPr>
              <a:t>-blue marble from a bag that contains 3 yellow marbles, 4 green marbles, and 2 blue marbles?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Basic Probability Examples</a:t>
            </a:r>
            <a:endParaRPr/>
          </a:p>
        </p:txBody>
      </p:sp>
      <p:grpSp>
        <p:nvGrpSpPr>
          <p:cNvPr id="105" name="Google Shape;105;p7"/>
          <p:cNvGrpSpPr/>
          <p:nvPr/>
        </p:nvGrpSpPr>
        <p:grpSpPr>
          <a:xfrm>
            <a:off x="4956325" y="2688625"/>
            <a:ext cx="3702800" cy="344100"/>
            <a:chOff x="4956325" y="2688625"/>
            <a:chExt cx="3702800" cy="344100"/>
          </a:xfrm>
        </p:grpSpPr>
        <p:sp>
          <p:nvSpPr>
            <p:cNvPr id="106" name="Google Shape;106;p7"/>
            <p:cNvSpPr/>
            <p:nvPr/>
          </p:nvSpPr>
          <p:spPr>
            <a:xfrm>
              <a:off x="4956325" y="2688625"/>
              <a:ext cx="355800" cy="3441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7"/>
            <p:cNvSpPr/>
            <p:nvPr/>
          </p:nvSpPr>
          <p:spPr>
            <a:xfrm>
              <a:off x="5376700" y="2688625"/>
              <a:ext cx="355800" cy="3441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5797075" y="2688625"/>
              <a:ext cx="355800" cy="344100"/>
            </a:xfrm>
            <a:prstGeom prst="ellipse">
              <a:avLst/>
            </a:prstGeom>
            <a:solidFill>
              <a:srgbClr val="FFD9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6217450" y="2688625"/>
              <a:ext cx="355800" cy="344100"/>
            </a:xfrm>
            <a:prstGeom prst="ellipse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7"/>
            <p:cNvSpPr/>
            <p:nvPr/>
          </p:nvSpPr>
          <p:spPr>
            <a:xfrm>
              <a:off x="6637825" y="2688625"/>
              <a:ext cx="355800" cy="344100"/>
            </a:xfrm>
            <a:prstGeom prst="ellipse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7058200" y="2688625"/>
              <a:ext cx="355800" cy="344100"/>
            </a:xfrm>
            <a:prstGeom prst="ellipse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7478575" y="2688625"/>
              <a:ext cx="355800" cy="344100"/>
            </a:xfrm>
            <a:prstGeom prst="ellipse">
              <a:avLst/>
            </a:prstGeom>
            <a:solidFill>
              <a:srgbClr val="93C47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7"/>
            <p:cNvSpPr/>
            <p:nvPr/>
          </p:nvSpPr>
          <p:spPr>
            <a:xfrm>
              <a:off x="7898950" y="2688625"/>
              <a:ext cx="355800" cy="344100"/>
            </a:xfrm>
            <a:prstGeom prst="ellipse">
              <a:avLst/>
            </a:prstGeom>
            <a:solidFill>
              <a:srgbClr val="3C78D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7"/>
            <p:cNvSpPr/>
            <p:nvPr/>
          </p:nvSpPr>
          <p:spPr>
            <a:xfrm>
              <a:off x="8303325" y="2688625"/>
              <a:ext cx="355800" cy="344100"/>
            </a:xfrm>
            <a:prstGeom prst="ellipse">
              <a:avLst/>
            </a:prstGeom>
            <a:solidFill>
              <a:srgbClr val="3C78D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7"/>
          <p:cNvSpPr/>
          <p:nvPr/>
        </p:nvSpPr>
        <p:spPr>
          <a:xfrm rot="-5400000">
            <a:off x="6561650" y="1754650"/>
            <a:ext cx="449100" cy="3613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5771725" y="3843450"/>
            <a:ext cx="20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Sample 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(Non Blue) = \frac{7}{9}"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475" y="2513800"/>
            <a:ext cx="3812876" cy="107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Basic Probability Examples</a:t>
            </a:r>
            <a:endParaRPr/>
          </a:p>
        </p:txBody>
      </p:sp>
      <p:sp>
        <p:nvSpPr>
          <p:cNvPr id="123" name="Google Shape;123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rolling doubles on two six-sided dice?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Basic Probability Examples</a:t>
            </a:r>
            <a:endParaRPr/>
          </a:p>
        </p:txBody>
      </p:sp>
      <p:sp>
        <p:nvSpPr>
          <p:cNvPr id="129" name="Google Shape;129;p9"/>
          <p:cNvSpPr txBox="1"/>
          <p:nvPr>
            <p:ph idx="1" type="body"/>
          </p:nvPr>
        </p:nvSpPr>
        <p:spPr>
          <a:xfrm>
            <a:off x="311700" y="1152475"/>
            <a:ext cx="852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rolling doubles on two six-sided die?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30" name="Google Shape;130;p9"/>
          <p:cNvGraphicFramePr/>
          <p:nvPr/>
        </p:nvGraphicFramePr>
        <p:xfrm>
          <a:off x="1083816" y="2172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{A3029478-CFFF-4036-BE37-8EF22F031456}</a:tableStyleId>
              </a:tblPr>
              <a:tblGrid>
                <a:gridCol w="739350"/>
                <a:gridCol w="739350"/>
                <a:gridCol w="739350"/>
                <a:gridCol w="739350"/>
                <a:gridCol w="739350"/>
                <a:gridCol w="739350"/>
                <a:gridCol w="7393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1" name="Google Shape;131;p9"/>
          <p:cNvSpPr txBox="1"/>
          <p:nvPr/>
        </p:nvSpPr>
        <p:spPr>
          <a:xfrm rot="-5400000">
            <a:off x="154791" y="3128500"/>
            <a:ext cx="101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2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3278991" y="1604500"/>
            <a:ext cx="101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1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6271850" y="1659650"/>
            <a:ext cx="286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number of outcomes: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x 6 = 36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Basic Probability Examples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311700" y="1152475"/>
            <a:ext cx="852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rolling doubles on two six sided die?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40" name="Google Shape;140;p10"/>
          <p:cNvGraphicFramePr/>
          <p:nvPr/>
        </p:nvGraphicFramePr>
        <p:xfrm>
          <a:off x="1083816" y="2172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{A3029478-CFFF-4036-BE37-8EF22F031456}</a:tableStyleId>
              </a:tblPr>
              <a:tblGrid>
                <a:gridCol w="739350"/>
                <a:gridCol w="739350"/>
                <a:gridCol w="739350"/>
                <a:gridCol w="739350"/>
                <a:gridCol w="739350"/>
                <a:gridCol w="739350"/>
                <a:gridCol w="7393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41" name="Google Shape;141;p10"/>
          <p:cNvSpPr txBox="1"/>
          <p:nvPr/>
        </p:nvSpPr>
        <p:spPr>
          <a:xfrm rot="-5400000">
            <a:off x="154791" y="3128500"/>
            <a:ext cx="101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2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0"/>
          <p:cNvSpPr txBox="1"/>
          <p:nvPr/>
        </p:nvSpPr>
        <p:spPr>
          <a:xfrm>
            <a:off x="3278991" y="1604500"/>
            <a:ext cx="101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1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0"/>
          <p:cNvSpPr txBox="1"/>
          <p:nvPr/>
        </p:nvSpPr>
        <p:spPr>
          <a:xfrm>
            <a:off x="6271850" y="1659650"/>
            <a:ext cx="286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number of outcomes: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x 6 = 36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0"/>
          <p:cNvSpPr txBox="1"/>
          <p:nvPr/>
        </p:nvSpPr>
        <p:spPr>
          <a:xfrm>
            <a:off x="6271850" y="2421650"/>
            <a:ext cx="286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ways: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Basic Probability Examples</a:t>
            </a:r>
            <a:endParaRPr/>
          </a:p>
        </p:txBody>
      </p:sp>
      <p:sp>
        <p:nvSpPr>
          <p:cNvPr id="150" name="Google Shape;150;p11"/>
          <p:cNvSpPr txBox="1"/>
          <p:nvPr>
            <p:ph idx="1" type="body"/>
          </p:nvPr>
        </p:nvSpPr>
        <p:spPr>
          <a:xfrm>
            <a:off x="311700" y="1152475"/>
            <a:ext cx="852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rolling doubles on two six sided die?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51" name="Google Shape;151;p11"/>
          <p:cNvGraphicFramePr/>
          <p:nvPr/>
        </p:nvGraphicFramePr>
        <p:xfrm>
          <a:off x="1083816" y="2172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{A3029478-CFFF-4036-BE37-8EF22F031456}</a:tableStyleId>
              </a:tblPr>
              <a:tblGrid>
                <a:gridCol w="739350"/>
                <a:gridCol w="739350"/>
                <a:gridCol w="739350"/>
                <a:gridCol w="739350"/>
                <a:gridCol w="739350"/>
                <a:gridCol w="739350"/>
                <a:gridCol w="7393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11"/>
          <p:cNvSpPr txBox="1"/>
          <p:nvPr/>
        </p:nvSpPr>
        <p:spPr>
          <a:xfrm rot="-5400000">
            <a:off x="154791" y="3128500"/>
            <a:ext cx="101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2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1"/>
          <p:cNvSpPr txBox="1"/>
          <p:nvPr/>
        </p:nvSpPr>
        <p:spPr>
          <a:xfrm>
            <a:off x="3278991" y="1604500"/>
            <a:ext cx="1014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Roll 1</a:t>
            </a:r>
            <a:endParaRPr b="1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 txBox="1"/>
          <p:nvPr/>
        </p:nvSpPr>
        <p:spPr>
          <a:xfrm>
            <a:off x="6271850" y="1659650"/>
            <a:ext cx="286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number of outcomes: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x 6 = 36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 txBox="1"/>
          <p:nvPr/>
        </p:nvSpPr>
        <p:spPr>
          <a:xfrm>
            <a:off x="6271850" y="2421650"/>
            <a:ext cx="2865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Number ways: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 txBox="1"/>
          <p:nvPr/>
        </p:nvSpPr>
        <p:spPr>
          <a:xfrm>
            <a:off x="6271850" y="3183650"/>
            <a:ext cx="28650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 ways ÷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 number of outcomes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6 / 36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1/6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Rules</a:t>
            </a:r>
            <a:endParaRPr/>
          </a:p>
        </p:txBody>
      </p:sp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311700" y="1152475"/>
            <a:ext cx="73413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Addition Rule ( “OR” events)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Multiplication Rule ( “AND” events )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Rules</a:t>
            </a:r>
            <a:endParaRPr/>
          </a:p>
        </p:txBody>
      </p:sp>
      <p:sp>
        <p:nvSpPr>
          <p:cNvPr id="168" name="Google Shape;168;p13"/>
          <p:cNvSpPr txBox="1"/>
          <p:nvPr>
            <p:ph idx="1" type="body"/>
          </p:nvPr>
        </p:nvSpPr>
        <p:spPr>
          <a:xfrm>
            <a:off x="311700" y="1152475"/>
            <a:ext cx="4260300" cy="3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Addition Rule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P(A or B) = P(A) + P(B) - P(A and B)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539975" y="2452750"/>
            <a:ext cx="3679200" cy="1978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1290450" y="2861050"/>
            <a:ext cx="1180500" cy="1162200"/>
          </a:xfrm>
          <a:prstGeom prst="ellipse">
            <a:avLst/>
          </a:prstGeom>
          <a:solidFill>
            <a:srgbClr val="B6D7A8">
              <a:alpha val="47058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2202475" y="2861050"/>
            <a:ext cx="1180500" cy="1162200"/>
          </a:xfrm>
          <a:prstGeom prst="ellipse">
            <a:avLst/>
          </a:prstGeom>
          <a:solidFill>
            <a:srgbClr val="3C78D8">
              <a:alpha val="24313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1198925" y="2727325"/>
            <a:ext cx="2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3337325" y="2727325"/>
            <a:ext cx="2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3"/>
          <p:cNvSpPr txBox="1"/>
          <p:nvPr>
            <p:ph idx="1" type="body"/>
          </p:nvPr>
        </p:nvSpPr>
        <p:spPr>
          <a:xfrm>
            <a:off x="4683225" y="1164625"/>
            <a:ext cx="4260300" cy="3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Addition Rule (Mutually Exclusive)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P(A or B) = P(A) + P(B)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4807175" y="2452750"/>
            <a:ext cx="3679200" cy="1978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5321600" y="2989175"/>
            <a:ext cx="1180500" cy="1162200"/>
          </a:xfrm>
          <a:prstGeom prst="ellipse">
            <a:avLst/>
          </a:prstGeom>
          <a:solidFill>
            <a:srgbClr val="B6D7A8">
              <a:alpha val="47058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6680225" y="2989175"/>
            <a:ext cx="1180500" cy="1162200"/>
          </a:xfrm>
          <a:prstGeom prst="ellipse">
            <a:avLst/>
          </a:prstGeom>
          <a:solidFill>
            <a:srgbClr val="3C78D8">
              <a:alpha val="24313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3"/>
          <p:cNvSpPr txBox="1"/>
          <p:nvPr/>
        </p:nvSpPr>
        <p:spPr>
          <a:xfrm>
            <a:off x="5466125" y="2727325"/>
            <a:ext cx="2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7604525" y="2727325"/>
            <a:ext cx="2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Rules</a:t>
            </a:r>
            <a:endParaRPr/>
          </a:p>
        </p:txBody>
      </p:sp>
      <p:sp>
        <p:nvSpPr>
          <p:cNvPr id="185" name="Google Shape;185;p14"/>
          <p:cNvSpPr txBox="1"/>
          <p:nvPr>
            <p:ph idx="1" type="body"/>
          </p:nvPr>
        </p:nvSpPr>
        <p:spPr>
          <a:xfrm>
            <a:off x="311700" y="1152475"/>
            <a:ext cx="4260300" cy="3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Addition Rule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P(A or B) = P(A) + P(B) - P(A and B)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539975" y="2452750"/>
            <a:ext cx="3679200" cy="1978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1290450" y="2861050"/>
            <a:ext cx="1180500" cy="1162200"/>
          </a:xfrm>
          <a:prstGeom prst="ellipse">
            <a:avLst/>
          </a:prstGeom>
          <a:solidFill>
            <a:srgbClr val="B6D7A8">
              <a:alpha val="47058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2202475" y="2861050"/>
            <a:ext cx="1180500" cy="1162200"/>
          </a:xfrm>
          <a:prstGeom prst="ellipse">
            <a:avLst/>
          </a:prstGeom>
          <a:solidFill>
            <a:srgbClr val="3C78D8">
              <a:alpha val="24313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4"/>
          <p:cNvSpPr txBox="1"/>
          <p:nvPr/>
        </p:nvSpPr>
        <p:spPr>
          <a:xfrm>
            <a:off x="1198925" y="2727325"/>
            <a:ext cx="2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4"/>
          <p:cNvSpPr txBox="1"/>
          <p:nvPr/>
        </p:nvSpPr>
        <p:spPr>
          <a:xfrm>
            <a:off x="3337325" y="2727325"/>
            <a:ext cx="2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4"/>
          <p:cNvSpPr txBox="1"/>
          <p:nvPr>
            <p:ph idx="1" type="body"/>
          </p:nvPr>
        </p:nvSpPr>
        <p:spPr>
          <a:xfrm>
            <a:off x="4683225" y="1164625"/>
            <a:ext cx="4260300" cy="3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Addition Rule (Mutually Exclusive)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P(A or B) = P(A) + P(B)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4807175" y="2452750"/>
            <a:ext cx="3679200" cy="19788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5321600" y="2989175"/>
            <a:ext cx="1180500" cy="1162200"/>
          </a:xfrm>
          <a:prstGeom prst="ellipse">
            <a:avLst/>
          </a:prstGeom>
          <a:solidFill>
            <a:srgbClr val="B6D7A8">
              <a:alpha val="47058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6680225" y="2989175"/>
            <a:ext cx="1180500" cy="1162200"/>
          </a:xfrm>
          <a:prstGeom prst="ellipse">
            <a:avLst/>
          </a:prstGeom>
          <a:solidFill>
            <a:srgbClr val="3C78D8">
              <a:alpha val="24313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5466125" y="2727325"/>
            <a:ext cx="2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4"/>
          <p:cNvSpPr txBox="1"/>
          <p:nvPr/>
        </p:nvSpPr>
        <p:spPr>
          <a:xfrm>
            <a:off x="7604525" y="2727325"/>
            <a:ext cx="2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311700" y="4561525"/>
            <a:ext cx="863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not sure, use the non-mutually exclusive formula.  P(A and B) == 0, for mutually exclusive events.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Addition Rule Examples</a:t>
            </a:r>
            <a:endParaRPr/>
          </a:p>
        </p:txBody>
      </p:sp>
      <p:sp>
        <p:nvSpPr>
          <p:cNvPr id="203" name="Google Shape;20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pulling out a blue marble </a:t>
            </a:r>
            <a:r>
              <a:rPr b="1" lang="en">
                <a:solidFill>
                  <a:schemeClr val="dk1"/>
                </a:solidFill>
              </a:rPr>
              <a:t>OR</a:t>
            </a:r>
            <a:r>
              <a:rPr lang="en">
                <a:solidFill>
                  <a:schemeClr val="dk1"/>
                </a:solidFill>
              </a:rPr>
              <a:t> a yellow marble from a bag that contains 3 yellow marbles, 4 green marbles, and 2 blue marbles?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Addition Rule Examples</a:t>
            </a:r>
            <a:endParaRPr/>
          </a:p>
        </p:txBody>
      </p:sp>
      <p:sp>
        <p:nvSpPr>
          <p:cNvPr id="209" name="Google Shape;20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What is the probability of pulling out a blue marble </a:t>
            </a:r>
            <a:r>
              <a:rPr b="1" lang="en">
                <a:solidFill>
                  <a:schemeClr val="dk1"/>
                </a:solidFill>
              </a:rPr>
              <a:t>OR</a:t>
            </a:r>
            <a:r>
              <a:rPr lang="en">
                <a:solidFill>
                  <a:schemeClr val="dk1"/>
                </a:solidFill>
              </a:rPr>
              <a:t> a yellow marble from a bag that contains 3 yellow marbles, 4 green marbles, and 2 blue marbles?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3168600" y="2489400"/>
            <a:ext cx="28068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P(Blue or Yellow)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P(Blue) + P(Yellow)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2/9 + 3/9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5/9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Addition Rule Examples</a:t>
            </a:r>
            <a:endParaRPr/>
          </a:p>
        </p:txBody>
      </p:sp>
      <p:sp>
        <p:nvSpPr>
          <p:cNvPr id="216" name="Google Shape;21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If you draw a single card from a deck of cards, what is the probability the card is either a diamond </a:t>
            </a:r>
            <a:r>
              <a:rPr b="1" lang="en">
                <a:solidFill>
                  <a:schemeClr val="dk1"/>
                </a:solidFill>
              </a:rPr>
              <a:t>OR</a:t>
            </a:r>
            <a:r>
              <a:rPr lang="en">
                <a:solidFill>
                  <a:schemeClr val="dk1"/>
                </a:solidFill>
              </a:rPr>
              <a:t> an ace?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Addition Rule Examples</a:t>
            </a:r>
            <a:endParaRPr/>
          </a:p>
        </p:txBody>
      </p:sp>
      <p:sp>
        <p:nvSpPr>
          <p:cNvPr id="222" name="Google Shape;22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If you draw a single card from a deck of cards, what is the probability the card is either a diamond </a:t>
            </a:r>
            <a:r>
              <a:rPr b="1" lang="en">
                <a:solidFill>
                  <a:schemeClr val="dk1"/>
                </a:solidFill>
              </a:rPr>
              <a:t>OR</a:t>
            </a:r>
            <a:r>
              <a:rPr lang="en">
                <a:solidFill>
                  <a:schemeClr val="dk1"/>
                </a:solidFill>
              </a:rPr>
              <a:t> an ace?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1835550" y="1888925"/>
            <a:ext cx="54729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P(Diamond) =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P(Ace) =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P(Diamond and Ace) =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P(Diamond or Ace)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Addition Rule Examples</a:t>
            </a:r>
            <a:endParaRPr/>
          </a:p>
        </p:txBody>
      </p:sp>
      <p:sp>
        <p:nvSpPr>
          <p:cNvPr id="229" name="Google Shape;22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If you draw a single card from a deck of cards, what is the probability the card is either a diamond </a:t>
            </a:r>
            <a:r>
              <a:rPr b="1" lang="en">
                <a:solidFill>
                  <a:schemeClr val="dk1"/>
                </a:solidFill>
              </a:rPr>
              <a:t>OR</a:t>
            </a:r>
            <a:r>
              <a:rPr lang="en">
                <a:solidFill>
                  <a:schemeClr val="dk1"/>
                </a:solidFill>
              </a:rPr>
              <a:t> an ace?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1835550" y="1888925"/>
            <a:ext cx="54729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P(Diamond) = 13/52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P(Ace) = 4/52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P(Diamond and Ace) = (13/52) x (4/52) = 1/52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P(Diamond or Ace)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P(Diamond) + P(Ace) - P(Diamond and Ace)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13/52 + 4/52 - 1/52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16/52</a:t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Rules</a:t>
            </a:r>
            <a:endParaRPr/>
          </a:p>
        </p:txBody>
      </p:sp>
      <p:sp>
        <p:nvSpPr>
          <p:cNvPr id="236" name="Google Shape;236;p20"/>
          <p:cNvSpPr txBox="1"/>
          <p:nvPr>
            <p:ph idx="1" type="body"/>
          </p:nvPr>
        </p:nvSpPr>
        <p:spPr>
          <a:xfrm>
            <a:off x="311700" y="1152475"/>
            <a:ext cx="8328000" cy="3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Multiplication Rule - Note: This rule only applies for independent events! 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If the first event happening impacts the probability of the second event, the events are 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dependent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2400"/>
              </a:spcBef>
              <a:spcAft>
                <a:spcPts val="0"/>
              </a:spcAft>
              <a:buSzPts val="1800"/>
              <a:buNone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If the first event happening does not impact the probability of the second event, the events are </a:t>
            </a: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</a:rPr>
              <a:t>independent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800"/>
              <a:buNone/>
            </a:pPr>
            <a:r>
              <a:rPr b="1" lang="en">
                <a:solidFill>
                  <a:schemeClr val="dk1"/>
                </a:solidFill>
              </a:rPr>
              <a:t>P(A and B) = P(A)*P(B)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Note that the probability of two events occurring is called a </a:t>
            </a:r>
            <a:r>
              <a:rPr b="1" lang="en">
                <a:solidFill>
                  <a:schemeClr val="dk1"/>
                </a:solidFill>
              </a:rPr>
              <a:t>joint probability</a:t>
            </a:r>
            <a:r>
              <a:rPr lang="en">
                <a:solidFill>
                  <a:schemeClr val="dk1"/>
                </a:solidFill>
              </a:rPr>
              <a:t>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Multiplication Rule Examples</a:t>
            </a:r>
            <a:endParaRPr/>
          </a:p>
        </p:txBody>
      </p:sp>
      <p:sp>
        <p:nvSpPr>
          <p:cNvPr id="242" name="Google Shape;24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If you roll two six-sided die, what is the probability that you roll two 5s? 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Multiplication Rule Examples</a:t>
            </a:r>
            <a:endParaRPr/>
          </a:p>
        </p:txBody>
      </p:sp>
      <p:sp>
        <p:nvSpPr>
          <p:cNvPr id="248" name="Google Shape;24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If you roll two six-sided die, what is the probability that you roll two 5s? 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768775" y="1903650"/>
            <a:ext cx="5106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P(First Roll = 5) =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P(Second Roll = 5) =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P(First &amp; Second Rolls = 5) =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Multiplication Rule Examples</a:t>
            </a:r>
            <a:endParaRPr/>
          </a:p>
        </p:txBody>
      </p:sp>
      <p:sp>
        <p:nvSpPr>
          <p:cNvPr id="255" name="Google Shape;25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If you roll two six-sided dice, what is the probability that you roll two 5s? 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768775" y="1903650"/>
            <a:ext cx="51069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P(First Roll = 5) = 1/6 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P(Second Roll = 5) = 1/6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P(First &amp; Second Rolls = 5) = 1/6 x 1/6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1/36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262" name="Google Shape;262;p24"/>
          <p:cNvSpPr txBox="1"/>
          <p:nvPr>
            <p:ph idx="1" type="body"/>
          </p:nvPr>
        </p:nvSpPr>
        <p:spPr>
          <a:xfrm>
            <a:off x="311700" y="145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1. A bag contains 2 orange, 3 purple and 2 yellow balls. Two of the balls are randomly drawn </a:t>
            </a:r>
            <a:r>
              <a:rPr b="1" lang="en">
                <a:solidFill>
                  <a:schemeClr val="dk1"/>
                </a:solidFill>
              </a:rPr>
              <a:t>with replacement</a:t>
            </a:r>
            <a:r>
              <a:rPr lang="en">
                <a:solidFill>
                  <a:schemeClr val="dk1"/>
                </a:solidFill>
              </a:rPr>
              <a:t>. What is the probability that </a:t>
            </a:r>
            <a:r>
              <a:rPr b="1" lang="en">
                <a:solidFill>
                  <a:schemeClr val="dk1"/>
                </a:solidFill>
              </a:rPr>
              <a:t>none</a:t>
            </a:r>
            <a:r>
              <a:rPr lang="en">
                <a:solidFill>
                  <a:schemeClr val="dk1"/>
                </a:solidFill>
              </a:rPr>
              <a:t> of the balls drawn is yellow?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268" name="Google Shape;268;p25"/>
          <p:cNvSpPr txBox="1"/>
          <p:nvPr>
            <p:ph idx="1" type="body"/>
          </p:nvPr>
        </p:nvSpPr>
        <p:spPr>
          <a:xfrm>
            <a:off x="311700" y="145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1. A bag contains 2 orange, 3 purple and 2 yellow balls. Two of the balls are randomly drawn </a:t>
            </a:r>
            <a:r>
              <a:rPr b="1" lang="en">
                <a:solidFill>
                  <a:schemeClr val="dk1"/>
                </a:solidFill>
              </a:rPr>
              <a:t>with replacement</a:t>
            </a:r>
            <a:r>
              <a:rPr lang="en">
                <a:solidFill>
                  <a:schemeClr val="dk1"/>
                </a:solidFill>
              </a:rPr>
              <a:t>. What is the probability that </a:t>
            </a:r>
            <a:r>
              <a:rPr b="1" lang="en">
                <a:solidFill>
                  <a:schemeClr val="dk1"/>
                </a:solidFill>
              </a:rPr>
              <a:t>none</a:t>
            </a:r>
            <a:r>
              <a:rPr lang="en">
                <a:solidFill>
                  <a:schemeClr val="dk1"/>
                </a:solidFill>
              </a:rPr>
              <a:t> of the balls drawn is yellow?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Total number of balls = 2 + 3 + 2 = 7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P( draw_1 = Yellow ) = 2/7 =&gt; P( draw_1 != Yellow ) = 5/7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P( draw_2 = Yellow ) = 2/7 =&gt; P( draw_2 != Yellow ) = 5/7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P( none yellow ) = P( draw_1 != Yellow ) x P( draw_2 != Yellow )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= 5/7 x 5/7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= 25/49</a:t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274" name="Google Shape;274;p26"/>
          <p:cNvSpPr txBox="1"/>
          <p:nvPr>
            <p:ph idx="1" type="body"/>
          </p:nvPr>
        </p:nvSpPr>
        <p:spPr>
          <a:xfrm>
            <a:off x="311700" y="145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2. A normal deck of cards has 52 cards in it. Assuming that you </a:t>
            </a:r>
            <a:r>
              <a:rPr b="1" lang="en">
                <a:solidFill>
                  <a:schemeClr val="dk1"/>
                </a:solidFill>
              </a:rPr>
              <a:t>DON'T</a:t>
            </a:r>
            <a:r>
              <a:rPr lang="en">
                <a:solidFill>
                  <a:schemeClr val="dk1"/>
                </a:solidFill>
              </a:rPr>
              <a:t> replace the card you had drawn before the next draw, what is the probability that you will draw three kings in a row?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280" name="Google Shape;280;p27"/>
          <p:cNvSpPr txBox="1"/>
          <p:nvPr>
            <p:ph idx="1" type="body"/>
          </p:nvPr>
        </p:nvSpPr>
        <p:spPr>
          <a:xfrm>
            <a:off x="311700" y="145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2. A normal deck of cards has 52 cards in it. Assuming that you </a:t>
            </a:r>
            <a:r>
              <a:rPr b="1" lang="en">
                <a:solidFill>
                  <a:schemeClr val="dk1"/>
                </a:solidFill>
              </a:rPr>
              <a:t>DON'T</a:t>
            </a:r>
            <a:r>
              <a:rPr lang="en">
                <a:solidFill>
                  <a:schemeClr val="dk1"/>
                </a:solidFill>
              </a:rPr>
              <a:t> replace the card you had drawn before the next draw, what is the probability that you will draw three kings in a row?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P( draw_1 = king ) = 4/52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P( draw_2 = king ) = 3/51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P( draw_3 = king ) = 2/50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P( 3 kings ) = P( draw_1 = king ) x P( draw_2 = king ) x P( draw_3 = king )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= 4/52 x 3/51 x 2/50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2000">
                <a:solidFill>
                  <a:schemeClr val="dk1"/>
                </a:solidFill>
              </a:rPr>
              <a:t>= 1/5,525</a:t>
            </a:r>
            <a:endParaRPr b="1" baseline="30000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286" name="Google Shape;28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3. Around 0.8% of men are blue-green colour-blind (the figure is slightly different for women) and roughly 1 in 5 men is left-handed. Assuming these characteristics are inherited independently, calculate the probability that a man chosen at random will: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(i) be both colour-blind and left-handed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(ii) be colour-blind and not left-handed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(iii) be colour-blind or left-handed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(iv) be neither colour-blind nor left-handed.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292" name="Google Shape;292;p29"/>
          <p:cNvSpPr txBox="1"/>
          <p:nvPr>
            <p:ph idx="1" type="body"/>
          </p:nvPr>
        </p:nvSpPr>
        <p:spPr>
          <a:xfrm>
            <a:off x="311700" y="1152475"/>
            <a:ext cx="8520600" cy="4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3. Around 0.8% of men are blue-green colour-blind (the figure is slightly different for women) and roughly 1 in 5 men is left-handed. Assuming these characteristics are inherited independently, calculate the probability that a man chosen at random will: 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Let’s assume 10,000 men …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(i) be both colour-blind and left-handed 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 0.16% = 80/10,000 x 2,000/10,000 = 16/10,000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(ii) be colour-blind and not left-handed 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 0.64% = 80/10,000 x (10,000 - 2,000)/10,000 = 64/10,000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(iii) be colour-blind or left-handed 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 20.64% = 80/10,000 + 2,000/10,000 - 16/10,000 = 2,064/10,000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(iv) be neither colour-blind nor left-handed.</a:t>
            </a:r>
            <a:endParaRPr>
              <a:solidFill>
                <a:schemeClr val="dk1"/>
              </a:solidFill>
            </a:endParaRPr>
          </a:p>
          <a:p>
            <a:pPr indent="0" lvl="0" marL="571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 79.36% = (10,000 - 80)/10,000 * (10,000 - 2,000)/10,000 = 7,936/10,000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1d28cdfdd2_3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298" name="Google Shape;298;g21d28cdfdd2_3_0"/>
          <p:cNvSpPr txBox="1"/>
          <p:nvPr>
            <p:ph idx="1" type="body"/>
          </p:nvPr>
        </p:nvSpPr>
        <p:spPr>
          <a:xfrm>
            <a:off x="311700" y="1152475"/>
            <a:ext cx="8520600" cy="38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3. Around 0.8% of men are blue-green colour-blind (the figure is slightly different for women) and roughly 1 in 5 men is left-handed. Assuming these characteristics are inherited independently, calculate the probability that a man chosen at random will: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(i) be both colour-blind and left-handed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 0.16% = 0.008 x 0.2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(ii) be colour-blind and not left-handed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 0.64% = 0.008 x ( 1 - 0.2 )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(iii) be colour-blind or left-handed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 20.64% = 0.008 + 0.2 - 0.0016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(iv) be neither colour-blind nor left-handed.</a:t>
            </a:r>
            <a:endParaRPr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 i.e. not </a:t>
            </a:r>
            <a:r>
              <a:rPr lang="en">
                <a:solidFill>
                  <a:schemeClr val="dk1"/>
                </a:solidFill>
              </a:rPr>
              <a:t>colour-blind and not left-handed )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	 79.36% = ( 1 - 0.008 ) x ( 1 - 0.2 ) = 1 - (iii)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56cd4d1c4_0_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304" name="Google Shape;304;g3c56cd4d1c4_0_7"/>
          <p:cNvSpPr txBox="1"/>
          <p:nvPr>
            <p:ph idx="1" type="body"/>
          </p:nvPr>
        </p:nvSpPr>
        <p:spPr>
          <a:xfrm>
            <a:off x="311700" y="1152475"/>
            <a:ext cx="8520600" cy="15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3. Around 0.8% of men are blue-green colour-blind (the figure is slightly different for women) and roughly 1 in 5 men is left-handed. Assuming these characteristics are inherited independently, calculate the probability that a man chosen at random will: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305" name="Google Shape;305;g3c56cd4d1c4_0_7"/>
          <p:cNvGraphicFramePr/>
          <p:nvPr/>
        </p:nvGraphicFramePr>
        <p:xfrm>
          <a:off x="3758549" y="25034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{A3029478-CFFF-4036-BE37-8EF22F031456}</a:tableStyleId>
              </a:tblPr>
              <a:tblGrid>
                <a:gridCol w="1265725"/>
                <a:gridCol w="1265725"/>
                <a:gridCol w="1265725"/>
                <a:gridCol w="1265725"/>
              </a:tblGrid>
              <a:tr h="51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Color blind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Not color blind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Left handed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Not left handed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51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100%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6" name="Google Shape;306;g3c56cd4d1c4_0_7"/>
          <p:cNvSpPr txBox="1"/>
          <p:nvPr/>
        </p:nvSpPr>
        <p:spPr>
          <a:xfrm>
            <a:off x="43125" y="2583675"/>
            <a:ext cx="3619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(i) be both colour-blind and left-handed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(ii) be colour-blind and not left-handed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(iii) be colour-blind or left-handed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(iv) be neither colour-blind nor left-handed.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c56cd4d1c4_0_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312" name="Google Shape;312;g3c56cd4d1c4_0_33"/>
          <p:cNvSpPr txBox="1"/>
          <p:nvPr>
            <p:ph idx="1" type="body"/>
          </p:nvPr>
        </p:nvSpPr>
        <p:spPr>
          <a:xfrm>
            <a:off x="311700" y="1152475"/>
            <a:ext cx="8520600" cy="15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3. Around 0.8% of men are blue-green colour-blind (the figure is slightly different for women) and roughly 1 in 5 men is left-handed. Assuming these characteristics are inherited independently, calculate the probability that a man chosen at random will: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313" name="Google Shape;313;g3c56cd4d1c4_0_33"/>
          <p:cNvGraphicFramePr/>
          <p:nvPr/>
        </p:nvGraphicFramePr>
        <p:xfrm>
          <a:off x="3758549" y="25034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{A3029478-CFFF-4036-BE37-8EF22F031456}</a:tableStyleId>
              </a:tblPr>
              <a:tblGrid>
                <a:gridCol w="1265725"/>
                <a:gridCol w="1265725"/>
                <a:gridCol w="1265725"/>
                <a:gridCol w="1265725"/>
              </a:tblGrid>
              <a:tr h="51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Color blind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Not color blind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Left handed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20%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Not left handed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51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0.8%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100%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14" name="Google Shape;314;g3c56cd4d1c4_0_33"/>
          <p:cNvSpPr txBox="1"/>
          <p:nvPr/>
        </p:nvSpPr>
        <p:spPr>
          <a:xfrm>
            <a:off x="43125" y="2583675"/>
            <a:ext cx="3619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(i) be both colour-blind and left-handed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(ii) be colour-blind and not left-handed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(iii) be colour-blind or left-handed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(iv) be neither colour-blind nor left-handed.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56cd4d1c4_0_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320" name="Google Shape;320;g3c56cd4d1c4_0_21"/>
          <p:cNvSpPr txBox="1"/>
          <p:nvPr>
            <p:ph idx="1" type="body"/>
          </p:nvPr>
        </p:nvSpPr>
        <p:spPr>
          <a:xfrm>
            <a:off x="311700" y="1152475"/>
            <a:ext cx="8520600" cy="15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3. Around 0.8% of men are blue-green colour-blind (the figure is slightly different for women) and roughly 1 in 5 men is left-handed. Assuming these characteristics are inherited independently, calculate the probability that a man chosen at random will: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321" name="Google Shape;321;g3c56cd4d1c4_0_21"/>
          <p:cNvGraphicFramePr/>
          <p:nvPr/>
        </p:nvGraphicFramePr>
        <p:xfrm>
          <a:off x="3769400" y="249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{A3029478-CFFF-4036-BE37-8EF22F031456}</a:tableStyleId>
              </a:tblPr>
              <a:tblGrid>
                <a:gridCol w="1265725"/>
                <a:gridCol w="1265725"/>
                <a:gridCol w="1265725"/>
                <a:gridCol w="1265725"/>
              </a:tblGrid>
              <a:tr h="51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Color blind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Not color blind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Left handed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20%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Not left handed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80%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51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0.8%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99.2%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100%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2" name="Google Shape;322;g3c56cd4d1c4_0_21"/>
          <p:cNvSpPr txBox="1"/>
          <p:nvPr/>
        </p:nvSpPr>
        <p:spPr>
          <a:xfrm>
            <a:off x="43125" y="2583675"/>
            <a:ext cx="3619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(i) be both colour-blind and left-handed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(ii) be colour-blind and not left-handed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(iii) be colour-blind or left-handed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(iv) be neither colour-blind nor left-handed.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56cd4d1c4_0_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Questions</a:t>
            </a:r>
            <a:endParaRPr/>
          </a:p>
        </p:txBody>
      </p:sp>
      <p:sp>
        <p:nvSpPr>
          <p:cNvPr id="328" name="Google Shape;328;g3c56cd4d1c4_0_14"/>
          <p:cNvSpPr txBox="1"/>
          <p:nvPr>
            <p:ph idx="1" type="body"/>
          </p:nvPr>
        </p:nvSpPr>
        <p:spPr>
          <a:xfrm>
            <a:off x="311700" y="1152475"/>
            <a:ext cx="8520600" cy="15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3. Around 0.8% of men are blue-green colour-blind (the figure is slightly different for women) and roughly 1 in 5 men is left-handed. Assuming these characteristics are inherited independently, calculate the probability that a man chosen at random will: 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329" name="Google Shape;329;g3c56cd4d1c4_0_14"/>
          <p:cNvGraphicFramePr/>
          <p:nvPr/>
        </p:nvGraphicFramePr>
        <p:xfrm>
          <a:off x="3769400" y="2492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{A3029478-CFFF-4036-BE37-8EF22F031456}</a:tableStyleId>
              </a:tblPr>
              <a:tblGrid>
                <a:gridCol w="1265725"/>
                <a:gridCol w="1265725"/>
                <a:gridCol w="1265725"/>
                <a:gridCol w="1265725"/>
              </a:tblGrid>
              <a:tr h="51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Color blind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Not color blind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Left handed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0.16%</a:t>
                      </a:r>
                      <a:br>
                        <a:rPr lang="en" sz="1400" u="none" cap="none" strike="noStrike"/>
                      </a:br>
                      <a:r>
                        <a:rPr lang="en" sz="1400" u="none" cap="none" strike="noStrike"/>
                        <a:t>(0.2*0.008)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19.84</a:t>
                      </a:r>
                      <a:br>
                        <a:rPr lang="en" sz="1400" u="none" cap="none" strike="noStrike"/>
                      </a:br>
                      <a:r>
                        <a:rPr lang="en" sz="1400" u="none" cap="none" strike="noStrike"/>
                        <a:t>(0.2*0.992)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20%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6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Not left handed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0.64%</a:t>
                      </a:r>
                      <a:br>
                        <a:rPr lang="en" sz="1400" u="none" cap="none" strike="noStrike"/>
                      </a:br>
                      <a:r>
                        <a:rPr lang="en" sz="1400" u="none" cap="none" strike="noStrike"/>
                        <a:t>(0.8*0.008)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79.36%</a:t>
                      </a:r>
                      <a:br>
                        <a:rPr lang="en" sz="1400" u="none" cap="none" strike="noStrike"/>
                      </a:br>
                      <a:r>
                        <a:rPr lang="en" sz="1400" u="none" cap="none" strike="noStrike"/>
                        <a:t>(0.8*0.992)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80%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512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0.8%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99.2%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100%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0" name="Google Shape;330;g3c56cd4d1c4_0_14"/>
          <p:cNvSpPr txBox="1"/>
          <p:nvPr/>
        </p:nvSpPr>
        <p:spPr>
          <a:xfrm>
            <a:off x="43125" y="2583675"/>
            <a:ext cx="3619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(i) be both colour-blind and left-handed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(ii) be colour-blind and not left-handed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(iii) be colour-blind or left-handed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(iv) be neither colour-blind nor left-handed.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/>
          <p:nvPr/>
        </p:nvSpPr>
        <p:spPr>
          <a:xfrm>
            <a:off x="457200" y="205979"/>
            <a:ext cx="82296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Random Variables 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1"/>
          <p:cNvSpPr txBox="1"/>
          <p:nvPr/>
        </p:nvSpPr>
        <p:spPr>
          <a:xfrm>
            <a:off x="647850" y="3863975"/>
            <a:ext cx="7848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probability distribution</a:t>
            </a:r>
            <a:r>
              <a:rPr b="0" i="0" lang="en" sz="15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is a function that provides the likelihood of seeing each value in a random variable’s sample space.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649600" y="856625"/>
            <a:ext cx="71349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random variable </a:t>
            </a: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a variable that can take on more than one value.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dealing with random variables, it is often useful to think about the </a:t>
            </a: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sample space </a:t>
            </a: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that variable.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Rolling a die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Char char="●"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Height of men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/>
          <p:nvPr/>
        </p:nvSpPr>
        <p:spPr>
          <a:xfrm>
            <a:off x="457200" y="205979"/>
            <a:ext cx="82296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7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0" i="0" lang="en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Discrete vs. Continuous Probabilities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2"/>
          <p:cNvSpPr txBox="1"/>
          <p:nvPr/>
        </p:nvSpPr>
        <p:spPr>
          <a:xfrm>
            <a:off x="1513350" y="1219350"/>
            <a:ext cx="25770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Discrete random variables are defined by a </a:t>
            </a: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mass function.</a:t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Continuous random variables are defined by a </a:t>
            </a:r>
            <a:r>
              <a:rPr b="1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density function</a:t>
            </a: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1600" y="1022275"/>
            <a:ext cx="2403651" cy="159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3150" y="2892075"/>
            <a:ext cx="1893400" cy="190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175" y="3172775"/>
            <a:ext cx="3823000" cy="191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Distributions</a:t>
            </a:r>
            <a:endParaRPr/>
          </a:p>
        </p:txBody>
      </p:sp>
      <p:sp>
        <p:nvSpPr>
          <p:cNvPr id="352" name="Google Shape;352;p33"/>
          <p:cNvSpPr txBox="1"/>
          <p:nvPr/>
        </p:nvSpPr>
        <p:spPr>
          <a:xfrm>
            <a:off x="387900" y="1017725"/>
            <a:ext cx="7838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Probability distributions have a functional form that is defined by a set of parameters. 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3" name="Google Shape;35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187" y="1999050"/>
            <a:ext cx="2496973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3"/>
          <p:cNvSpPr txBox="1"/>
          <p:nvPr/>
        </p:nvSpPr>
        <p:spPr>
          <a:xfrm>
            <a:off x="387900" y="2678775"/>
            <a:ext cx="3595800" cy="5850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 is the probability of success (e.g., heads)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 is the number of trials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 Shot 2020-07-12 at 7.03.31 PM.png" id="355" name="Google Shape;355;p33"/>
          <p:cNvPicPr preferRelativeResize="0"/>
          <p:nvPr/>
        </p:nvPicPr>
        <p:blipFill rotWithShape="1">
          <a:blip r:embed="rId5">
            <a:alphaModFix/>
          </a:blip>
          <a:srcRect b="8264" l="0" r="0" t="8256"/>
          <a:stretch/>
        </p:blipFill>
        <p:spPr>
          <a:xfrm>
            <a:off x="4901475" y="3437302"/>
            <a:ext cx="3822900" cy="1576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6" name="Google Shape;356;p33"/>
          <p:cNvSpPr txBox="1"/>
          <p:nvPr/>
        </p:nvSpPr>
        <p:spPr>
          <a:xfrm>
            <a:off x="997575" y="1592475"/>
            <a:ext cx="256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Binomial Distribution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3"/>
          <p:cNvSpPr txBox="1"/>
          <p:nvPr/>
        </p:nvSpPr>
        <p:spPr>
          <a:xfrm>
            <a:off x="5588775" y="1632075"/>
            <a:ext cx="256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 Distribution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3"/>
          <p:cNvSpPr txBox="1"/>
          <p:nvPr/>
        </p:nvSpPr>
        <p:spPr>
          <a:xfrm>
            <a:off x="5015025" y="2646625"/>
            <a:ext cx="3595800" cy="5850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μ is the sample mean and 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σ is the sample standard deviation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(x) = \frac{1}{\sqrt{2\pi\sigma^2}}exp(-\frac{(x-\mu)^2}{2\sigma^2})" id="359" name="Google Shape;359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13212" y="1992900"/>
            <a:ext cx="2913737" cy="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Distributions</a:t>
            </a:r>
            <a:endParaRPr/>
          </a:p>
        </p:txBody>
      </p:sp>
      <p:pic>
        <p:nvPicPr>
          <p:cNvPr id="365" name="Google Shape;36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187" y="1999050"/>
            <a:ext cx="2496973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4"/>
          <p:cNvSpPr txBox="1"/>
          <p:nvPr/>
        </p:nvSpPr>
        <p:spPr>
          <a:xfrm>
            <a:off x="997575" y="1592475"/>
            <a:ext cx="256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Binomial Distribution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4"/>
          <p:cNvSpPr txBox="1"/>
          <p:nvPr/>
        </p:nvSpPr>
        <p:spPr>
          <a:xfrm>
            <a:off x="5588775" y="1632075"/>
            <a:ext cx="256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Normal Distribution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(x) = \frac{1}{\sqrt{2\pi\sigma^2}}exp(-\frac{(x-\mu)^2}{2\sigma^2})" id="368" name="Google Shape;36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3212" y="1992900"/>
            <a:ext cx="2913737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4"/>
          <p:cNvSpPr txBox="1"/>
          <p:nvPr/>
        </p:nvSpPr>
        <p:spPr>
          <a:xfrm>
            <a:off x="492800" y="3162300"/>
            <a:ext cx="2305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Given n, choose 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Also, n choose x, nCx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nCk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nCr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Math Combination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34"/>
          <p:cNvCxnSpPr/>
          <p:nvPr/>
        </p:nvCxnSpPr>
        <p:spPr>
          <a:xfrm flipH="1" rot="10800000">
            <a:off x="1277400" y="2611450"/>
            <a:ext cx="448200" cy="3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" name="Google Shape;371;p34"/>
          <p:cNvCxnSpPr/>
          <p:nvPr/>
        </p:nvCxnSpPr>
        <p:spPr>
          <a:xfrm rot="10800000">
            <a:off x="7022450" y="2425400"/>
            <a:ext cx="432600" cy="51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2" name="Google Shape;372;p34"/>
          <p:cNvSpPr txBox="1"/>
          <p:nvPr/>
        </p:nvSpPr>
        <p:spPr>
          <a:xfrm>
            <a:off x="6459009" y="3009900"/>
            <a:ext cx="2305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 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raised to the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Euler's constant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Probability Distributions</a:t>
            </a:r>
            <a:endParaRPr/>
          </a:p>
        </p:txBody>
      </p:sp>
      <p:sp>
        <p:nvSpPr>
          <p:cNvPr id="378" name="Google Shape;378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There are many other probability distributions. We will discuss them and how to generate samples from probability distributions in Python in a later lecture.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8725" y="2050100"/>
            <a:ext cx="2818025" cy="28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
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5" roundtripDataSignature="AMtx7mhHv/eleGHDP33eKlGWC9e3Ksnu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57C5CD8-6304-4D8D-A141-E50DBFAEA0C6}">
  <a:tblStyle styleId="{F57C5CD8-6304-4D8D-A141-E50DBFAEA0C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customschemas.google.com/relationships/presentationmetadata" Target="metadata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d7bef33ce3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d7bef33ce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2ed5236e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g32ed5236e9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dc02954885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dc0295488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dc02954885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dc0295488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1eddae65ca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21eddae65c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29e934be44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29e934be4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dc52ff937a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dc52ff937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hyperlink" Target="https://learning.oreilly.com/library/view/machine-learning-with/9781491989371/ch18.html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Naive Bayes Classification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d7bef33ce3_0_23"/>
          <p:cNvSpPr txBox="1"/>
          <p:nvPr>
            <p:ph type="ctrTitle"/>
          </p:nvPr>
        </p:nvSpPr>
        <p:spPr>
          <a:xfrm>
            <a:off x="685800" y="375100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Gaussian Naive Bayes </a:t>
            </a:r>
            <a:endParaRPr/>
          </a:p>
        </p:txBody>
      </p:sp>
      <p:sp>
        <p:nvSpPr>
          <p:cNvPr id="90" name="Google Shape;90;gd7bef33ce3_0_23"/>
          <p:cNvSpPr txBox="1"/>
          <p:nvPr>
            <p:ph idx="1" type="subTitle"/>
          </p:nvPr>
        </p:nvSpPr>
        <p:spPr>
          <a:xfrm>
            <a:off x="446325" y="1845100"/>
            <a:ext cx="7881300" cy="29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b="1" lang="en-US">
                <a:solidFill>
                  <a:srgbClr val="674EA7"/>
                </a:solidFill>
              </a:rPr>
              <a:t>Gaussian Naive Bayes</a:t>
            </a:r>
            <a:r>
              <a:rPr lang="en-US">
                <a:solidFill>
                  <a:schemeClr val="dk1"/>
                </a:solidFill>
              </a:rPr>
              <a:t> is a type of Naive Bayes classifier that assumes that your </a:t>
            </a:r>
            <a:r>
              <a:rPr b="1" lang="en-US">
                <a:solidFill>
                  <a:schemeClr val="dk1"/>
                </a:solidFill>
              </a:rPr>
              <a:t>predictors follow a normal (Gaussian) distributio</a:t>
            </a:r>
            <a:r>
              <a:rPr lang="en-US">
                <a:solidFill>
                  <a:schemeClr val="dk1"/>
                </a:solidFill>
              </a:rPr>
              <a:t>n.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>
                <a:solidFill>
                  <a:schemeClr val="dk1"/>
                </a:solidFill>
              </a:rPr>
              <a:t>It can be used when your predictors are continuous.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g32ed5236e9a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0431" y="1371588"/>
            <a:ext cx="5049837" cy="9398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g32ed5236e9a_0_0"/>
          <p:cNvSpPr txBox="1"/>
          <p:nvPr>
            <p:ph idx="4294967295" type="ctrTitle"/>
          </p:nvPr>
        </p:nvSpPr>
        <p:spPr>
          <a:xfrm>
            <a:off x="685800" y="375100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3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if we have multiple predictors?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32ed5236e9a_0_0"/>
          <p:cNvSpPr txBox="1"/>
          <p:nvPr/>
        </p:nvSpPr>
        <p:spPr>
          <a:xfrm>
            <a:off x="906900" y="6082075"/>
            <a:ext cx="7330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Chapter 18 in Machine Learning with Python Cookbook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2ed5236e9a_0_0"/>
          <p:cNvSpPr txBox="1"/>
          <p:nvPr/>
        </p:nvSpPr>
        <p:spPr>
          <a:xfrm>
            <a:off x="133850" y="2503200"/>
            <a:ext cx="88830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P(A|B,C,D…) = 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P(B,C,D,...|A) * P(A)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P(B,C,D,...)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P(~A|B,C,D…) = P(B,C,D,...|~A) * P(~A) / P(B,C,D,...)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P(A|B,C,D…) + P(~A|B,C,D…) = 1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P(B,C,D,...|A) * P(A) / P(B,C,D,...) + P(B,C,D,...|~A) * P(~A) / P(B,C,D,...) = 1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P(B,C,D,...|A) * P(A) + P(B,C,D,...|~A) * P(~A) = P(B,C,D,...)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P(B,C,D,...|A) = P(B|A) * P(C|A) * P(D|A) …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" name="Google Shape;103;gdc02954885_0_13"/>
          <p:cNvGraphicFramePr/>
          <p:nvPr/>
        </p:nvGraphicFramePr>
        <p:xfrm>
          <a:off x="508750" y="667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{F57C5CD8-6304-4D8D-A141-E50DBFAEA0C6}</a:tableStyleId>
              </a:tblPr>
              <a:tblGrid>
                <a:gridCol w="1247600"/>
                <a:gridCol w="1086200"/>
                <a:gridCol w="11669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Temperature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Humidity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Play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No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28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68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59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99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67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No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66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103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No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98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75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No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04" name="Google Shape;104;gdc02954885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78600" y="-8675"/>
            <a:ext cx="4352111" cy="290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gdc02954885_0_13"/>
          <p:cNvPicPr preferRelativeResize="0"/>
          <p:nvPr/>
        </p:nvPicPr>
        <p:blipFill rotWithShape="1">
          <a:blip r:embed="rId4">
            <a:alphaModFix/>
          </a:blip>
          <a:srcRect b="0" l="0" r="0" t="9271"/>
          <a:stretch/>
        </p:blipFill>
        <p:spPr>
          <a:xfrm>
            <a:off x="4302400" y="2892725"/>
            <a:ext cx="4513575" cy="273010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gdc02954885_0_13"/>
          <p:cNvSpPr txBox="1"/>
          <p:nvPr/>
        </p:nvSpPr>
        <p:spPr>
          <a:xfrm>
            <a:off x="4676988" y="5818600"/>
            <a:ext cx="3916800" cy="738900"/>
          </a:xfrm>
          <a:prstGeom prst="rect">
            <a:avLst/>
          </a:prstGeom>
          <a:noFill/>
          <a:ln cap="flat" cmpd="sng" w="952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Will we play tennis if it is 100 degrees with 70% humidity?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gdc02954885_0_13"/>
          <p:cNvSpPr txBox="1"/>
          <p:nvPr/>
        </p:nvSpPr>
        <p:spPr>
          <a:xfrm>
            <a:off x="1213850" y="6268325"/>
            <a:ext cx="1755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= 13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gdc02954885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200" y="143725"/>
            <a:ext cx="4927926" cy="3285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gdc02954885_0_26"/>
          <p:cNvPicPr preferRelativeResize="0"/>
          <p:nvPr/>
        </p:nvPicPr>
        <p:blipFill rotWithShape="1">
          <a:blip r:embed="rId4">
            <a:alphaModFix/>
          </a:blip>
          <a:srcRect b="0" l="0" r="0" t="9271"/>
          <a:stretch/>
        </p:blipFill>
        <p:spPr>
          <a:xfrm>
            <a:off x="100800" y="3601600"/>
            <a:ext cx="4927937" cy="2980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dc02954885_0_26"/>
          <p:cNvSpPr/>
          <p:nvPr/>
        </p:nvSpPr>
        <p:spPr>
          <a:xfrm>
            <a:off x="3281075" y="712700"/>
            <a:ext cx="80700" cy="120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" name="Google Shape;115;gdc02954885_0_26"/>
          <p:cNvCxnSpPr/>
          <p:nvPr/>
        </p:nvCxnSpPr>
        <p:spPr>
          <a:xfrm>
            <a:off x="3334875" y="874050"/>
            <a:ext cx="53700" cy="2151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6" name="Google Shape;116;gdc02954885_0_26"/>
          <p:cNvCxnSpPr>
            <a:stCxn id="114" idx="2"/>
          </p:cNvCxnSpPr>
          <p:nvPr/>
        </p:nvCxnSpPr>
        <p:spPr>
          <a:xfrm flipH="1">
            <a:off x="793475" y="773150"/>
            <a:ext cx="2487600" cy="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7" name="Google Shape;117;gdc02954885_0_26"/>
          <p:cNvSpPr/>
          <p:nvPr/>
        </p:nvSpPr>
        <p:spPr>
          <a:xfrm>
            <a:off x="3585875" y="3760700"/>
            <a:ext cx="80700" cy="120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dc02954885_0_26"/>
          <p:cNvSpPr/>
          <p:nvPr/>
        </p:nvSpPr>
        <p:spPr>
          <a:xfrm>
            <a:off x="3357275" y="2922500"/>
            <a:ext cx="80700" cy="120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dc02954885_0_26"/>
          <p:cNvSpPr/>
          <p:nvPr/>
        </p:nvSpPr>
        <p:spPr>
          <a:xfrm>
            <a:off x="3585875" y="6046700"/>
            <a:ext cx="80700" cy="120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" name="Google Shape;120;gdc02954885_0_26"/>
          <p:cNvCxnSpPr>
            <a:stCxn id="117" idx="2"/>
          </p:cNvCxnSpPr>
          <p:nvPr/>
        </p:nvCxnSpPr>
        <p:spPr>
          <a:xfrm>
            <a:off x="3585875" y="3821150"/>
            <a:ext cx="31200" cy="225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1" name="Google Shape;121;gdc02954885_0_26"/>
          <p:cNvCxnSpPr/>
          <p:nvPr/>
        </p:nvCxnSpPr>
        <p:spPr>
          <a:xfrm flipH="1">
            <a:off x="793550" y="2891125"/>
            <a:ext cx="2622000" cy="2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2" name="Google Shape;122;gdc02954885_0_26"/>
          <p:cNvCxnSpPr/>
          <p:nvPr/>
        </p:nvCxnSpPr>
        <p:spPr>
          <a:xfrm rot="10800000">
            <a:off x="717275" y="3828150"/>
            <a:ext cx="2873100" cy="1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3" name="Google Shape;123;gdc02954885_0_26"/>
          <p:cNvCxnSpPr>
            <a:stCxn id="119" idx="1"/>
          </p:cNvCxnSpPr>
          <p:nvPr/>
        </p:nvCxnSpPr>
        <p:spPr>
          <a:xfrm flipH="1">
            <a:off x="717393" y="6064405"/>
            <a:ext cx="2880300" cy="4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4" name="Google Shape;124;gdc02954885_0_26"/>
          <p:cNvSpPr txBox="1"/>
          <p:nvPr/>
        </p:nvSpPr>
        <p:spPr>
          <a:xfrm>
            <a:off x="4980350" y="858725"/>
            <a:ext cx="3861000" cy="38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P(A|B,C) = P(B,C|A)*P(A) / P(B,C)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P(A|B,C) * P(B,C) = P(B,C|A)*P(A)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P(B,C|A)*P(A) + P(B,C|~A)*P(~A) = P(B,C)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= Play: Yes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= Temperature: 100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= Humidity: 70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dc02954885_0_26"/>
          <p:cNvSpPr txBox="1"/>
          <p:nvPr/>
        </p:nvSpPr>
        <p:spPr>
          <a:xfrm>
            <a:off x="4924663" y="5435175"/>
            <a:ext cx="3916800" cy="738900"/>
          </a:xfrm>
          <a:prstGeom prst="rect">
            <a:avLst/>
          </a:prstGeom>
          <a:noFill/>
          <a:ln cap="flat" cmpd="sng" w="952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Will we play tennis if it is 100 degrees with 70% humidity?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1eddae65ca_1_0"/>
          <p:cNvSpPr txBox="1"/>
          <p:nvPr/>
        </p:nvSpPr>
        <p:spPr>
          <a:xfrm>
            <a:off x="5028725" y="588650"/>
            <a:ext cx="38127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P(Yes|100,70) * P(100,70)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 P(100|Yes)*P(70|Yes)*P(Yes)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 0.002*0.003*(9/13)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 4.15e^-6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P(No|100,70) * P(100,70)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P(100|No)*P(70|No)*P(No)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0.045*0.08*(4/13)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1080e^-6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g21eddae65ca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200" y="143725"/>
            <a:ext cx="4927926" cy="3285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g21eddae65ca_1_0"/>
          <p:cNvPicPr preferRelativeResize="0"/>
          <p:nvPr/>
        </p:nvPicPr>
        <p:blipFill rotWithShape="1">
          <a:blip r:embed="rId4">
            <a:alphaModFix/>
          </a:blip>
          <a:srcRect b="0" l="0" r="0" t="9271"/>
          <a:stretch/>
        </p:blipFill>
        <p:spPr>
          <a:xfrm>
            <a:off x="100800" y="3601600"/>
            <a:ext cx="4927937" cy="2980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21eddae65ca_1_0"/>
          <p:cNvSpPr/>
          <p:nvPr/>
        </p:nvSpPr>
        <p:spPr>
          <a:xfrm>
            <a:off x="3281075" y="712700"/>
            <a:ext cx="80700" cy="120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" name="Google Shape;134;g21eddae65ca_1_0"/>
          <p:cNvCxnSpPr/>
          <p:nvPr/>
        </p:nvCxnSpPr>
        <p:spPr>
          <a:xfrm>
            <a:off x="3334875" y="874050"/>
            <a:ext cx="53700" cy="2151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5" name="Google Shape;135;g21eddae65ca_1_0"/>
          <p:cNvCxnSpPr>
            <a:stCxn id="133" idx="2"/>
          </p:cNvCxnSpPr>
          <p:nvPr/>
        </p:nvCxnSpPr>
        <p:spPr>
          <a:xfrm flipH="1">
            <a:off x="793475" y="773150"/>
            <a:ext cx="2487600" cy="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36" name="Google Shape;136;g21eddae65ca_1_0"/>
          <p:cNvSpPr/>
          <p:nvPr/>
        </p:nvSpPr>
        <p:spPr>
          <a:xfrm>
            <a:off x="3585875" y="3760700"/>
            <a:ext cx="80700" cy="120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21eddae65ca_1_0"/>
          <p:cNvSpPr/>
          <p:nvPr/>
        </p:nvSpPr>
        <p:spPr>
          <a:xfrm>
            <a:off x="3357275" y="2922500"/>
            <a:ext cx="80700" cy="120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21eddae65ca_1_0"/>
          <p:cNvSpPr/>
          <p:nvPr/>
        </p:nvSpPr>
        <p:spPr>
          <a:xfrm>
            <a:off x="3585875" y="6046700"/>
            <a:ext cx="80700" cy="120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9" name="Google Shape;139;g21eddae65ca_1_0"/>
          <p:cNvCxnSpPr>
            <a:stCxn id="136" idx="2"/>
          </p:cNvCxnSpPr>
          <p:nvPr/>
        </p:nvCxnSpPr>
        <p:spPr>
          <a:xfrm>
            <a:off x="3585875" y="3821150"/>
            <a:ext cx="31200" cy="225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0" name="Google Shape;140;g21eddae65ca_1_0"/>
          <p:cNvCxnSpPr/>
          <p:nvPr/>
        </p:nvCxnSpPr>
        <p:spPr>
          <a:xfrm flipH="1">
            <a:off x="793550" y="2891125"/>
            <a:ext cx="2622000" cy="2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1" name="Google Shape;141;g21eddae65ca_1_0"/>
          <p:cNvCxnSpPr/>
          <p:nvPr/>
        </p:nvCxnSpPr>
        <p:spPr>
          <a:xfrm rot="10800000">
            <a:off x="717275" y="3828150"/>
            <a:ext cx="2873100" cy="1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2" name="Google Shape;142;g21eddae65ca_1_0"/>
          <p:cNvCxnSpPr>
            <a:stCxn id="138" idx="1"/>
          </p:cNvCxnSpPr>
          <p:nvPr/>
        </p:nvCxnSpPr>
        <p:spPr>
          <a:xfrm flipH="1">
            <a:off x="717393" y="6064405"/>
            <a:ext cx="2880300" cy="4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43" name="Google Shape;143;g21eddae65ca_1_0"/>
          <p:cNvSpPr txBox="1"/>
          <p:nvPr/>
        </p:nvSpPr>
        <p:spPr>
          <a:xfrm>
            <a:off x="4924663" y="5435175"/>
            <a:ext cx="3916800" cy="738900"/>
          </a:xfrm>
          <a:prstGeom prst="rect">
            <a:avLst/>
          </a:prstGeom>
          <a:noFill/>
          <a:ln cap="flat" cmpd="sng" w="952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Will we play tennis if it is 100 degrees with 70% humidity?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29e934be44_0_18"/>
          <p:cNvSpPr txBox="1"/>
          <p:nvPr/>
        </p:nvSpPr>
        <p:spPr>
          <a:xfrm>
            <a:off x="5028725" y="588650"/>
            <a:ext cx="3812700" cy="39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P(100,70)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4.15e^-6 + 1080e^-6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1084.15e^-6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P(Yes|100,70)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 4.15e^-6 / 1084.15e^-6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 0.38%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P(No|100,70)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1080e^-6 / 1084.15e^-6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99.62%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g329e934be44_0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200" y="143725"/>
            <a:ext cx="4927926" cy="3285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g329e934be44_0_18"/>
          <p:cNvPicPr preferRelativeResize="0"/>
          <p:nvPr/>
        </p:nvPicPr>
        <p:blipFill rotWithShape="1">
          <a:blip r:embed="rId4">
            <a:alphaModFix/>
          </a:blip>
          <a:srcRect b="0" l="0" r="0" t="9271"/>
          <a:stretch/>
        </p:blipFill>
        <p:spPr>
          <a:xfrm>
            <a:off x="100800" y="3601600"/>
            <a:ext cx="4927937" cy="2980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329e934be44_0_18"/>
          <p:cNvSpPr/>
          <p:nvPr/>
        </p:nvSpPr>
        <p:spPr>
          <a:xfrm>
            <a:off x="3281075" y="712700"/>
            <a:ext cx="80700" cy="120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" name="Google Shape;152;g329e934be44_0_18"/>
          <p:cNvCxnSpPr/>
          <p:nvPr/>
        </p:nvCxnSpPr>
        <p:spPr>
          <a:xfrm>
            <a:off x="3334875" y="874050"/>
            <a:ext cx="53700" cy="2151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3" name="Google Shape;153;g329e934be44_0_18"/>
          <p:cNvCxnSpPr>
            <a:stCxn id="151" idx="2"/>
          </p:cNvCxnSpPr>
          <p:nvPr/>
        </p:nvCxnSpPr>
        <p:spPr>
          <a:xfrm flipH="1">
            <a:off x="793475" y="773150"/>
            <a:ext cx="2487600" cy="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4" name="Google Shape;154;g329e934be44_0_18"/>
          <p:cNvSpPr/>
          <p:nvPr/>
        </p:nvSpPr>
        <p:spPr>
          <a:xfrm>
            <a:off x="3585875" y="3760700"/>
            <a:ext cx="80700" cy="120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29e934be44_0_18"/>
          <p:cNvSpPr/>
          <p:nvPr/>
        </p:nvSpPr>
        <p:spPr>
          <a:xfrm>
            <a:off x="3357275" y="2922500"/>
            <a:ext cx="80700" cy="120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29e934be44_0_18"/>
          <p:cNvSpPr/>
          <p:nvPr/>
        </p:nvSpPr>
        <p:spPr>
          <a:xfrm>
            <a:off x="3585875" y="6046700"/>
            <a:ext cx="80700" cy="120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" name="Google Shape;157;g329e934be44_0_18"/>
          <p:cNvCxnSpPr>
            <a:stCxn id="154" idx="2"/>
          </p:cNvCxnSpPr>
          <p:nvPr/>
        </p:nvCxnSpPr>
        <p:spPr>
          <a:xfrm>
            <a:off x="3585875" y="3821150"/>
            <a:ext cx="31200" cy="225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8" name="Google Shape;158;g329e934be44_0_18"/>
          <p:cNvCxnSpPr/>
          <p:nvPr/>
        </p:nvCxnSpPr>
        <p:spPr>
          <a:xfrm flipH="1">
            <a:off x="793550" y="2891125"/>
            <a:ext cx="2622000" cy="2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9" name="Google Shape;159;g329e934be44_0_18"/>
          <p:cNvCxnSpPr/>
          <p:nvPr/>
        </p:nvCxnSpPr>
        <p:spPr>
          <a:xfrm rot="10800000">
            <a:off x="717275" y="3828150"/>
            <a:ext cx="2873100" cy="1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0" name="Google Shape;160;g329e934be44_0_18"/>
          <p:cNvCxnSpPr>
            <a:stCxn id="156" idx="1"/>
          </p:cNvCxnSpPr>
          <p:nvPr/>
        </p:nvCxnSpPr>
        <p:spPr>
          <a:xfrm flipH="1">
            <a:off x="717393" y="6064405"/>
            <a:ext cx="2880300" cy="4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1" name="Google Shape;161;g329e934be44_0_18"/>
          <p:cNvSpPr txBox="1"/>
          <p:nvPr/>
        </p:nvSpPr>
        <p:spPr>
          <a:xfrm>
            <a:off x="4924663" y="5435175"/>
            <a:ext cx="3916800" cy="738900"/>
          </a:xfrm>
          <a:prstGeom prst="rect">
            <a:avLst/>
          </a:prstGeom>
          <a:noFill/>
          <a:ln cap="flat" cmpd="sng" w="952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Will we play tennis if it is 100 degrees with 70% humidity?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dc52ff937a_0_51"/>
          <p:cNvSpPr txBox="1"/>
          <p:nvPr/>
        </p:nvSpPr>
        <p:spPr>
          <a:xfrm>
            <a:off x="1333475" y="1755325"/>
            <a:ext cx="19323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-US" sz="3100" u="sng" cap="none" strike="noStrike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Pros</a:t>
            </a:r>
            <a:endParaRPr b="0" i="0" sz="3100" u="sng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dc52ff937a_0_51"/>
          <p:cNvSpPr txBox="1"/>
          <p:nvPr/>
        </p:nvSpPr>
        <p:spPr>
          <a:xfrm>
            <a:off x="5969375" y="1755325"/>
            <a:ext cx="19323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-US" sz="3100" u="sng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Cons</a:t>
            </a:r>
            <a:endParaRPr b="0" i="0" sz="3100" u="sng" cap="none" strike="noStrike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gdc52ff937a_0_51"/>
          <p:cNvCxnSpPr/>
          <p:nvPr/>
        </p:nvCxnSpPr>
        <p:spPr>
          <a:xfrm>
            <a:off x="4572000" y="1564825"/>
            <a:ext cx="0" cy="427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gdc52ff937a_0_51"/>
          <p:cNvSpPr txBox="1"/>
          <p:nvPr/>
        </p:nvSpPr>
        <p:spPr>
          <a:xfrm>
            <a:off x="528575" y="2417125"/>
            <a:ext cx="38658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libri"/>
              <a:buChar char="●"/>
            </a:pPr>
            <a:r>
              <a:rPr b="0" i="0" lang="en-US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Easy &amp; fast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libri"/>
              <a:buChar char="●"/>
            </a:pPr>
            <a:r>
              <a:rPr b="0" i="0" lang="en-US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 handle multi-class predictions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libri"/>
              <a:buChar char="●"/>
            </a:pPr>
            <a:r>
              <a:rPr b="0" i="0" lang="en-US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Performs well when assumption of independence holds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libri"/>
              <a:buChar char="●"/>
            </a:pPr>
            <a:r>
              <a:rPr b="0" i="0" lang="en-US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fairly robust even if independence assumption doesn’t hold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libri"/>
              <a:buChar char="●"/>
            </a:pPr>
            <a:r>
              <a:rPr b="0" i="0" lang="en-US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Works well with large datasets 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dc52ff937a_0_51"/>
          <p:cNvSpPr txBox="1"/>
          <p:nvPr/>
        </p:nvSpPr>
        <p:spPr>
          <a:xfrm>
            <a:off x="5255075" y="2628925"/>
            <a:ext cx="33609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libri"/>
              <a:buChar char="●"/>
            </a:pPr>
            <a:r>
              <a:rPr b="0" i="0" lang="en-US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 run into issues if a category was not observed in training data set 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libri"/>
              <a:buChar char="●"/>
            </a:pPr>
            <a:r>
              <a:rPr b="0" i="0" lang="en-US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Posterior probabilities are not true probabilities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libri"/>
              <a:buChar char="●"/>
            </a:pPr>
            <a:r>
              <a:rPr b="0" i="0" lang="en-US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May not perform as well as other more complex machine learning methods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dc52ff937a_0_51"/>
          <p:cNvSpPr txBox="1"/>
          <p:nvPr>
            <p:ph idx="4294967295" type="ctrTitle"/>
          </p:nvPr>
        </p:nvSpPr>
        <p:spPr>
          <a:xfrm>
            <a:off x="685800" y="375100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Naive Bayes Pros &amp; Cons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2020-07-09T18:56:36Z</dcterms:created>
  <dc:creator>Cliff Lewis</dc:creator>
</cp:coreProperties>
</file>
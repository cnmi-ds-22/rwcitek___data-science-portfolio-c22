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 roundtripDataSignature="AMtx7mjByglRychHE5MATIpcWSbTxgGX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054e8803b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g38054e8803b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8054e8803b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Orienteering.</a:t>
            </a:r>
            <a:endParaRPr/>
          </a:p>
          <a:p>
            <a:pPr indent="0" lvl="0" marL="0" rtl="0" algn="l">
              <a:lnSpc>
                <a:spcPct val="100000"/>
              </a:lnSpc>
              <a:spcBef>
                <a:spcPts val="0"/>
              </a:spcBef>
              <a:spcAft>
                <a:spcPts val="0"/>
              </a:spcAft>
              <a:buSzPts val="1400"/>
              <a:buNone/>
            </a:pPr>
            <a:r>
              <a:rPr lang="en-US"/>
              <a:t>Where are we at?</a:t>
            </a:r>
            <a:br>
              <a:rPr lang="en-US"/>
            </a:br>
            <a:r>
              <a:rPr lang="en-US"/>
              <a:t>How did we get here?</a:t>
            </a:r>
            <a:endParaRPr/>
          </a:p>
          <a:p>
            <a:pPr indent="0" lvl="0" marL="0" rtl="0" algn="l">
              <a:lnSpc>
                <a:spcPct val="100000"/>
              </a:lnSpc>
              <a:spcBef>
                <a:spcPts val="0"/>
              </a:spcBef>
              <a:spcAft>
                <a:spcPts val="0"/>
              </a:spcAft>
              <a:buSzPts val="1400"/>
              <a:buNone/>
            </a:pPr>
            <a:r>
              <a:rPr lang="en-US"/>
              <a:t>Where are we going?</a:t>
            </a:r>
            <a:endParaRPr/>
          </a:p>
          <a:p>
            <a:pPr indent="0" lvl="0" marL="0" rtl="0" algn="l">
              <a:lnSpc>
                <a:spcPct val="100000"/>
              </a:lnSpc>
              <a:spcBef>
                <a:spcPts val="0"/>
              </a:spcBef>
              <a:spcAft>
                <a:spcPts val="0"/>
              </a:spcAft>
              <a:buSzPts val="1400"/>
              <a:buNone/>
            </a:pPr>
            <a:r>
              <a:t/>
            </a:r>
            <a:endParaRPr/>
          </a:p>
        </p:txBody>
      </p:sp>
      <p:sp>
        <p:nvSpPr>
          <p:cNvPr id="137" name="Google Shape;137;g38054e8803b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054e8803b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Also: Accessibility with mobile devices ( smartphones, tablets, laptops ) and cloud computing; see Google CoLab, GitHub CodeSpaces, Kaggle</a:t>
            </a:r>
            <a:endParaRPr/>
          </a:p>
          <a:p>
            <a:pPr indent="0" lvl="0" marL="0" rtl="0" algn="l">
              <a:lnSpc>
                <a:spcPct val="100000"/>
              </a:lnSpc>
              <a:spcBef>
                <a:spcPts val="0"/>
              </a:spcBef>
              <a:spcAft>
                <a:spcPts val="0"/>
              </a:spcAft>
              <a:buSzPts val="1400"/>
              <a:buNone/>
            </a:pPr>
            <a:r>
              <a:t/>
            </a:r>
            <a:endParaRPr/>
          </a:p>
        </p:txBody>
      </p:sp>
      <p:sp>
        <p:nvSpPr>
          <p:cNvPr id="163" name="Google Shape;163;g38054e8803b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8054e8803b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Money Ball</a:t>
            </a:r>
            <a:endParaRPr/>
          </a:p>
          <a:p>
            <a:pPr indent="0" lvl="0" marL="0" rtl="0" algn="l">
              <a:lnSpc>
                <a:spcPct val="100000"/>
              </a:lnSpc>
              <a:spcBef>
                <a:spcPts val="0"/>
              </a:spcBef>
              <a:spcAft>
                <a:spcPts val="0"/>
              </a:spcAft>
              <a:buSzPts val="1400"/>
              <a:buNone/>
            </a:pPr>
            <a:r>
              <a:t/>
            </a:r>
            <a:endParaRPr/>
          </a:p>
        </p:txBody>
      </p:sp>
      <p:sp>
        <p:nvSpPr>
          <p:cNvPr id="178" name="Google Shape;178;g38054e8803b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054e8803b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FUSE makerspace: sensors to monitor equipment</a:t>
            </a:r>
            <a:endParaRPr/>
          </a:p>
        </p:txBody>
      </p:sp>
      <p:sp>
        <p:nvSpPr>
          <p:cNvPr id="186" name="Google Shape;186;g38054e8803b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8054e8803b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8054e8803b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8054e8803b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38054e8803b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8054e8803b_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g38054e8803b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8054e8803b_0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g38054e8803b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8054e8803b_0_2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g38054e8803b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8054e8803b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8054e8803b_0_2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38054e8803b_0_2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2e2de969d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g32e2de969d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15"/>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5"/>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9" name="Google Shape;19;p1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1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17"/>
          <p:cNvSpPr txBox="1"/>
          <p:nvPr>
            <p:ph type="ctrTitle"/>
          </p:nvPr>
        </p:nvSpPr>
        <p:spPr>
          <a:xfrm>
            <a:off x="685800" y="1597820"/>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1" name="Google Shape;31;p1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18"/>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7" name="Google Shape;37;p1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0" name="Shape 40"/>
        <p:cNvGrpSpPr/>
        <p:nvPr/>
      </p:nvGrpSpPr>
      <p:grpSpPr>
        <a:xfrm>
          <a:off x="0" y="0"/>
          <a:ext cx="0" cy="0"/>
          <a:chOff x="0" y="0"/>
          <a:chExt cx="0" cy="0"/>
        </a:xfrm>
      </p:grpSpPr>
      <p:sp>
        <p:nvSpPr>
          <p:cNvPr id="41" name="Google Shape;41;p19"/>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9"/>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3" name="Google Shape;43;p1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2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0"/>
          <p:cNvSpPr txBox="1"/>
          <p:nvPr>
            <p:ph idx="1" type="body"/>
          </p:nvPr>
        </p:nvSpPr>
        <p:spPr>
          <a:xfrm>
            <a:off x="457200" y="900113"/>
            <a:ext cx="4038600" cy="2545556"/>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9" name="Google Shape;49;p20"/>
          <p:cNvSpPr txBox="1"/>
          <p:nvPr>
            <p:ph idx="2" type="body"/>
          </p:nvPr>
        </p:nvSpPr>
        <p:spPr>
          <a:xfrm>
            <a:off x="4648200" y="900113"/>
            <a:ext cx="4038600" cy="2545556"/>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0" name="Google Shape;50;p2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2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1"/>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6" name="Google Shape;56;p21"/>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7" name="Google Shape;57;p21"/>
          <p:cNvSpPr txBox="1"/>
          <p:nvPr>
            <p:ph idx="3" type="body"/>
          </p:nvPr>
        </p:nvSpPr>
        <p:spPr>
          <a:xfrm>
            <a:off x="4645027"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8" name="Google Shape;58;p21"/>
          <p:cNvSpPr txBox="1"/>
          <p:nvPr>
            <p:ph idx="4" type="body"/>
          </p:nvPr>
        </p:nvSpPr>
        <p:spPr>
          <a:xfrm>
            <a:off x="4645027"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9" name="Google Shape;59;p2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2" name="Shape 62"/>
        <p:cNvGrpSpPr/>
        <p:nvPr/>
      </p:nvGrpSpPr>
      <p:grpSpPr>
        <a:xfrm>
          <a:off x="0" y="0"/>
          <a:ext cx="0" cy="0"/>
          <a:chOff x="0" y="0"/>
          <a:chExt cx="0" cy="0"/>
        </a:xfrm>
      </p:grpSpPr>
      <p:sp>
        <p:nvSpPr>
          <p:cNvPr id="63" name="Google Shape;63;p2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2"/>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5" name="Google Shape;65;p22"/>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6" name="Google Shape;66;p22"/>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7" name="Google Shape;67;p22"/>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8" name="Google Shape;68;p2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2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2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25"/>
          <p:cNvSpPr txBox="1"/>
          <p:nvPr>
            <p:ph type="title"/>
          </p:nvPr>
        </p:nvSpPr>
        <p:spPr>
          <a:xfrm>
            <a:off x="457202" y="204787"/>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83" name="Google Shape;83;p25"/>
          <p:cNvSpPr txBox="1"/>
          <p:nvPr>
            <p:ph idx="2" type="body"/>
          </p:nvPr>
        </p:nvSpPr>
        <p:spPr>
          <a:xfrm>
            <a:off x="457202" y="1076327"/>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84" name="Google Shape;84;p2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26"/>
          <p:cNvSpPr txBox="1"/>
          <p:nvPr>
            <p:ph type="title"/>
          </p:nvPr>
        </p:nvSpPr>
        <p:spPr>
          <a:xfrm>
            <a:off x="1792288" y="3600451"/>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6"/>
          <p:cNvSpPr/>
          <p:nvPr>
            <p:ph idx="2" type="pic"/>
          </p:nvPr>
        </p:nvSpPr>
        <p:spPr>
          <a:xfrm>
            <a:off x="1792288" y="459581"/>
            <a:ext cx="5486400" cy="3086100"/>
          </a:xfrm>
          <a:prstGeom prst="rect">
            <a:avLst/>
          </a:prstGeom>
          <a:noFill/>
          <a:ln>
            <a:noFill/>
          </a:ln>
        </p:spPr>
      </p:sp>
      <p:sp>
        <p:nvSpPr>
          <p:cNvPr id="90" name="Google Shape;90;p26"/>
          <p:cNvSpPr txBox="1"/>
          <p:nvPr>
            <p:ph idx="1" type="body"/>
          </p:nvPr>
        </p:nvSpPr>
        <p:spPr>
          <a:xfrm>
            <a:off x="1792288" y="4025504"/>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91" name="Google Shape;91;p2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94" name="Shape 94"/>
        <p:cNvGrpSpPr/>
        <p:nvPr/>
      </p:nvGrpSpPr>
      <p:grpSpPr>
        <a:xfrm>
          <a:off x="0" y="0"/>
          <a:ext cx="0" cy="0"/>
          <a:chOff x="0" y="0"/>
          <a:chExt cx="0" cy="0"/>
        </a:xfrm>
      </p:grpSpPr>
      <p:sp>
        <p:nvSpPr>
          <p:cNvPr id="95" name="Google Shape;95;p27"/>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7"/>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97" name="Google Shape;97;p27"/>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98" name="Google Shape;98;p2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01" name="Shape 101"/>
        <p:cNvGrpSpPr/>
        <p:nvPr/>
      </p:nvGrpSpPr>
      <p:grpSpPr>
        <a:xfrm>
          <a:off x="0" y="0"/>
          <a:ext cx="0" cy="0"/>
          <a:chOff x="0" y="0"/>
          <a:chExt cx="0" cy="0"/>
        </a:xfrm>
      </p:grpSpPr>
      <p:sp>
        <p:nvSpPr>
          <p:cNvPr id="102" name="Google Shape;102;p28"/>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28"/>
          <p:cNvSpPr/>
          <p:nvPr>
            <p:ph idx="2" type="pic"/>
          </p:nvPr>
        </p:nvSpPr>
        <p:spPr>
          <a:xfrm>
            <a:off x="1792288" y="459581"/>
            <a:ext cx="5486400" cy="3086100"/>
          </a:xfrm>
          <a:prstGeom prst="rect">
            <a:avLst/>
          </a:prstGeom>
          <a:noFill/>
          <a:ln>
            <a:noFill/>
          </a:ln>
        </p:spPr>
      </p:sp>
      <p:sp>
        <p:nvSpPr>
          <p:cNvPr id="104" name="Google Shape;104;p28"/>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05" name="Google Shape;105;p2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2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8" name="Shape 108"/>
        <p:cNvGrpSpPr/>
        <p:nvPr/>
      </p:nvGrpSpPr>
      <p:grpSpPr>
        <a:xfrm>
          <a:off x="0" y="0"/>
          <a:ext cx="0" cy="0"/>
          <a:chOff x="0" y="0"/>
          <a:chExt cx="0" cy="0"/>
        </a:xfrm>
      </p:grpSpPr>
      <p:sp>
        <p:nvSpPr>
          <p:cNvPr id="109" name="Google Shape;109;p2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9"/>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1" name="Google Shape;111;p2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2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4" name="Shape 114"/>
        <p:cNvGrpSpPr/>
        <p:nvPr/>
      </p:nvGrpSpPr>
      <p:grpSpPr>
        <a:xfrm>
          <a:off x="0" y="0"/>
          <a:ext cx="0" cy="0"/>
          <a:chOff x="0" y="0"/>
          <a:chExt cx="0" cy="0"/>
        </a:xfrm>
      </p:grpSpPr>
      <p:sp>
        <p:nvSpPr>
          <p:cNvPr id="115" name="Google Shape;115;p30"/>
          <p:cNvSpPr txBox="1"/>
          <p:nvPr>
            <p:ph type="title"/>
          </p:nvPr>
        </p:nvSpPr>
        <p:spPr>
          <a:xfrm rot="5400000">
            <a:off x="6012656" y="771525"/>
            <a:ext cx="3290888"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30"/>
          <p:cNvSpPr txBox="1"/>
          <p:nvPr>
            <p:ph idx="1" type="body"/>
          </p:nvPr>
        </p:nvSpPr>
        <p:spPr>
          <a:xfrm rot="5400000">
            <a:off x="1821656" y="-1209675"/>
            <a:ext cx="3290888"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7" name="Google Shape;117;p3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3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3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theme" Target="../theme/theme2.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14"/>
          <p:cNvPicPr preferRelativeResize="0"/>
          <p:nvPr/>
        </p:nvPicPr>
        <p:blipFill rotWithShape="1">
          <a:blip r:embed="rId2">
            <a:alphaModFix/>
          </a:blip>
          <a:srcRect b="0" l="0" r="0" t="0"/>
          <a:stretch/>
        </p:blipFill>
        <p:spPr>
          <a:xfrm>
            <a:off x="-397" y="-985"/>
            <a:ext cx="9144793" cy="514547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appinventiv.com/blog/retail-predictive-analytics/" TargetMode="Externa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salesmate.io/blog/behavioral-segmentation/" TargetMode="Externa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artists.spotify.com/en/blog/introducing-new-audience-segmentation-on-spotify-for-artists" TargetMode="Externa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ab-inbev.com/news-media/innovation/how-brewright-is-rooting-out-corruption-at-ab-inbev-and-beyond/"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shiprocket.in/blog/amazon-recommendation/" TargetMode="Externa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hop.oreilly.com/product/0636920034919.do"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hyperlink" Target="http://drewconway.com/zia/2013/3/26/the-data-science-venn-diagra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Intro to Data Science</a:t>
            </a:r>
            <a:endParaRPr sz="3600"/>
          </a:p>
        </p:txBody>
      </p:sp>
      <p:sp>
        <p:nvSpPr>
          <p:cNvPr id="125" name="Google Shape;125;p1"/>
          <p:cNvSpPr txBox="1"/>
          <p:nvPr/>
        </p:nvSpPr>
        <p:spPr>
          <a:xfrm>
            <a:off x="6005209" y="4587548"/>
            <a:ext cx="2866417"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This document is for the exclusive use of Deep Dive bootcamp participants during the bootcamp. This document may not be shared or duplicated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8054e8803b_0_12"/>
          <p:cNvSpPr txBox="1"/>
          <p:nvPr>
            <p:ph type="title"/>
          </p:nvPr>
        </p:nvSpPr>
        <p:spPr>
          <a:xfrm>
            <a:off x="457200" y="26430"/>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The Data Revolution</a:t>
            </a:r>
            <a:endParaRPr/>
          </a:p>
        </p:txBody>
      </p:sp>
      <p:pic>
        <p:nvPicPr>
          <p:cNvPr id="131" name="Google Shape;131;g38054e8803b_0_12"/>
          <p:cNvPicPr preferRelativeResize="0"/>
          <p:nvPr/>
        </p:nvPicPr>
        <p:blipFill rotWithShape="1">
          <a:blip r:embed="rId3">
            <a:alphaModFix/>
          </a:blip>
          <a:srcRect b="0" l="0" r="0" t="20584"/>
          <a:stretch/>
        </p:blipFill>
        <p:spPr>
          <a:xfrm>
            <a:off x="5186525" y="909700"/>
            <a:ext cx="3115600" cy="3156151"/>
          </a:xfrm>
          <a:prstGeom prst="rect">
            <a:avLst/>
          </a:prstGeom>
          <a:noFill/>
          <a:ln cap="flat" cmpd="sng" w="9525">
            <a:solidFill>
              <a:schemeClr val="dk1"/>
            </a:solidFill>
            <a:prstDash val="solid"/>
            <a:round/>
            <a:headEnd len="sm" w="sm" type="none"/>
            <a:tailEnd len="sm" w="sm" type="none"/>
          </a:ln>
        </p:spPr>
      </p:pic>
      <p:sp>
        <p:nvSpPr>
          <p:cNvPr id="132" name="Google Shape;132;g38054e8803b_0_12"/>
          <p:cNvSpPr txBox="1"/>
          <p:nvPr/>
        </p:nvSpPr>
        <p:spPr>
          <a:xfrm>
            <a:off x="209792" y="4294451"/>
            <a:ext cx="33201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alibri"/>
                <a:ea typeface="Calibri"/>
                <a:cs typeface="Calibri"/>
                <a:sym typeface="Calibri"/>
              </a:rPr>
              <a:t>Images from https://www.nodegraph.se</a:t>
            </a:r>
            <a:endParaRPr b="0" i="0" sz="1400" u="none" cap="none" strike="noStrike">
              <a:solidFill>
                <a:srgbClr val="000000"/>
              </a:solidFill>
              <a:latin typeface="Arial"/>
              <a:ea typeface="Arial"/>
              <a:cs typeface="Arial"/>
              <a:sym typeface="Arial"/>
            </a:endParaRPr>
          </a:p>
        </p:txBody>
      </p:sp>
      <p:sp>
        <p:nvSpPr>
          <p:cNvPr id="133" name="Google Shape;133;g38054e8803b_0_12"/>
          <p:cNvSpPr txBox="1"/>
          <p:nvPr/>
        </p:nvSpPr>
        <p:spPr>
          <a:xfrm>
            <a:off x="6005209" y="4587548"/>
            <a:ext cx="28665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This document is for the exclusive use of Deep Dive bootcamp participants during the bootcamp. This document may not be shared or duplicated</a:t>
            </a:r>
            <a:endParaRPr b="0" i="0" sz="1400" u="none" cap="none" strike="noStrike">
              <a:solidFill>
                <a:srgbClr val="000000"/>
              </a:solidFill>
              <a:latin typeface="Arial"/>
              <a:ea typeface="Arial"/>
              <a:cs typeface="Arial"/>
              <a:sym typeface="Arial"/>
            </a:endParaRPr>
          </a:p>
        </p:txBody>
      </p:sp>
      <p:pic>
        <p:nvPicPr>
          <p:cNvPr id="134" name="Google Shape;134;g38054e8803b_0_12"/>
          <p:cNvPicPr preferRelativeResize="0"/>
          <p:nvPr/>
        </p:nvPicPr>
        <p:blipFill rotWithShape="1">
          <a:blip r:embed="rId4">
            <a:alphaModFix/>
          </a:blip>
          <a:srcRect b="0" l="0" r="0" t="0"/>
          <a:stretch/>
        </p:blipFill>
        <p:spPr>
          <a:xfrm>
            <a:off x="367425" y="909700"/>
            <a:ext cx="4387800" cy="315614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8054e8803b_0_20"/>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What Can Data Do?</a:t>
            </a:r>
            <a:endParaRPr/>
          </a:p>
        </p:txBody>
      </p:sp>
      <p:sp>
        <p:nvSpPr>
          <p:cNvPr id="140" name="Google Shape;140;g38054e8803b_0_20"/>
          <p:cNvSpPr txBox="1"/>
          <p:nvPr/>
        </p:nvSpPr>
        <p:spPr>
          <a:xfrm>
            <a:off x="6005209" y="4587548"/>
            <a:ext cx="28665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This document is for the exclusive use of Deep Dive bootcamp participants during the bootcamp. This document may not be shared or duplicated</a:t>
            </a:r>
            <a:endParaRPr b="0" i="0" sz="1400" u="none" cap="none" strike="noStrike">
              <a:solidFill>
                <a:srgbClr val="000000"/>
              </a:solidFill>
              <a:latin typeface="Arial"/>
              <a:ea typeface="Arial"/>
              <a:cs typeface="Arial"/>
              <a:sym typeface="Arial"/>
            </a:endParaRPr>
          </a:p>
        </p:txBody>
      </p:sp>
      <p:grpSp>
        <p:nvGrpSpPr>
          <p:cNvPr id="141" name="Google Shape;141;g38054e8803b_0_20"/>
          <p:cNvGrpSpPr/>
          <p:nvPr/>
        </p:nvGrpSpPr>
        <p:grpSpPr>
          <a:xfrm>
            <a:off x="1853819" y="1378047"/>
            <a:ext cx="5436266" cy="2830194"/>
            <a:chOff x="0" y="547583"/>
            <a:chExt cx="4644000" cy="2830194"/>
          </a:xfrm>
        </p:grpSpPr>
        <p:cxnSp>
          <p:nvCxnSpPr>
            <p:cNvPr id="142" name="Google Shape;142;g38054e8803b_0_20"/>
            <p:cNvCxnSpPr/>
            <p:nvPr/>
          </p:nvCxnSpPr>
          <p:spPr>
            <a:xfrm>
              <a:off x="0" y="1962664"/>
              <a:ext cx="4644000" cy="0"/>
            </a:xfrm>
            <a:prstGeom prst="straightConnector1">
              <a:avLst/>
            </a:prstGeom>
            <a:solidFill>
              <a:srgbClr val="CFD7E7">
                <a:alpha val="89020"/>
              </a:srgbClr>
            </a:solidFill>
            <a:ln cap="flat" cmpd="sng" w="25400">
              <a:solidFill>
                <a:srgbClr val="CFD7E7">
                  <a:alpha val="89020"/>
                </a:srgbClr>
              </a:solidFill>
              <a:prstDash val="solid"/>
              <a:round/>
              <a:headEnd len="sm" w="sm" type="none"/>
              <a:tailEnd len="lg" w="lg" type="triangle"/>
            </a:ln>
          </p:spPr>
        </p:cxnSp>
        <p:sp>
          <p:nvSpPr>
            <p:cNvPr id="143" name="Google Shape;143;g38054e8803b_0_20"/>
            <p:cNvSpPr/>
            <p:nvPr/>
          </p:nvSpPr>
          <p:spPr>
            <a:xfrm>
              <a:off x="129344" y="2107901"/>
              <a:ext cx="1891800" cy="443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g38054e8803b_0_20"/>
            <p:cNvSpPr txBox="1"/>
            <p:nvPr/>
          </p:nvSpPr>
          <p:spPr>
            <a:xfrm>
              <a:off x="129344" y="2107901"/>
              <a:ext cx="1891800" cy="443700"/>
            </a:xfrm>
            <a:prstGeom prst="rect">
              <a:avLst/>
            </a:prstGeom>
            <a:noFill/>
            <a:ln>
              <a:noFill/>
            </a:ln>
          </p:spPr>
          <p:txBody>
            <a:bodyPr anchorCtr="1" anchor="t"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Past</a:t>
              </a:r>
              <a:endParaRPr b="0" i="0" sz="1600" u="none" cap="none" strike="noStrike">
                <a:solidFill>
                  <a:schemeClr val="dk1"/>
                </a:solidFill>
                <a:latin typeface="Calibri"/>
                <a:ea typeface="Calibri"/>
                <a:cs typeface="Calibri"/>
                <a:sym typeface="Calibri"/>
              </a:endParaRPr>
            </a:p>
          </p:txBody>
        </p:sp>
        <p:sp>
          <p:nvSpPr>
            <p:cNvPr id="145" name="Google Shape;145;g38054e8803b_0_20"/>
            <p:cNvSpPr/>
            <p:nvPr/>
          </p:nvSpPr>
          <p:spPr>
            <a:xfrm>
              <a:off x="362" y="547583"/>
              <a:ext cx="2149800" cy="669300"/>
            </a:xfrm>
            <a:prstGeom prst="roundRect">
              <a:avLst>
                <a:gd fmla="val 16667" name="adj"/>
              </a:avLst>
            </a:prstGeom>
            <a:solidFill>
              <a:schemeClr val="lt1">
                <a:alpha val="8902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g38054e8803b_0_20"/>
            <p:cNvSpPr txBox="1"/>
            <p:nvPr/>
          </p:nvSpPr>
          <p:spPr>
            <a:xfrm>
              <a:off x="33033" y="580254"/>
              <a:ext cx="2084400" cy="603900"/>
            </a:xfrm>
            <a:prstGeom prst="rect">
              <a:avLst/>
            </a:prstGeom>
            <a:noFill/>
            <a:ln>
              <a:noFill/>
            </a:ln>
          </p:spPr>
          <p:txBody>
            <a:bodyPr anchorCtr="0" anchor="ctr" bIns="115550" lIns="115550" spcFirstLastPara="1" rIns="115550" wrap="square" tIns="115550">
              <a:noAutofit/>
            </a:bodyPr>
            <a:lstStyle/>
            <a:p>
              <a:pPr indent="0" lvl="0" marL="0" marR="0" rtl="0" algn="ctr">
                <a:lnSpc>
                  <a:spcPct val="90000"/>
                </a:lnSpc>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Show historical trends </a:t>
              </a:r>
              <a:br>
                <a:rPr b="0" i="0" lang="en-US" sz="1300" u="none" cap="none" strike="noStrike">
                  <a:solidFill>
                    <a:schemeClr val="dk1"/>
                  </a:solidFill>
                  <a:latin typeface="Calibri"/>
                  <a:ea typeface="Calibri"/>
                  <a:cs typeface="Calibri"/>
                  <a:sym typeface="Calibri"/>
                </a:rPr>
              </a:br>
              <a:r>
                <a:rPr b="0" i="0" lang="en-US" sz="1300" u="none" cap="none" strike="noStrike">
                  <a:solidFill>
                    <a:schemeClr val="dk1"/>
                  </a:solidFill>
                  <a:latin typeface="Calibri"/>
                  <a:ea typeface="Calibri"/>
                  <a:cs typeface="Calibri"/>
                  <a:sym typeface="Calibri"/>
                </a:rPr>
                <a:t>and performance</a:t>
              </a:r>
              <a:endParaRPr b="0" i="0" sz="1300" u="none" cap="none" strike="noStrike">
                <a:solidFill>
                  <a:schemeClr val="dk1"/>
                </a:solidFill>
                <a:latin typeface="Calibri"/>
                <a:ea typeface="Calibri"/>
                <a:cs typeface="Calibri"/>
                <a:sym typeface="Calibri"/>
              </a:endParaRPr>
            </a:p>
          </p:txBody>
        </p:sp>
        <p:cxnSp>
          <p:nvCxnSpPr>
            <p:cNvPr id="147" name="Google Shape;147;g38054e8803b_0_20"/>
            <p:cNvCxnSpPr/>
            <p:nvPr/>
          </p:nvCxnSpPr>
          <p:spPr>
            <a:xfrm>
              <a:off x="1075213" y="1216851"/>
              <a:ext cx="0" cy="745800"/>
            </a:xfrm>
            <a:prstGeom prst="straightConnector1">
              <a:avLst/>
            </a:prstGeom>
            <a:noFill/>
            <a:ln cap="flat" cmpd="sng" w="9525">
              <a:solidFill>
                <a:schemeClr val="accent1"/>
              </a:solidFill>
              <a:prstDash val="dash"/>
              <a:round/>
              <a:headEnd len="sm" w="sm" type="none"/>
              <a:tailEnd len="sm" w="sm" type="none"/>
            </a:ln>
          </p:spPr>
        </p:cxnSp>
        <p:sp>
          <p:nvSpPr>
            <p:cNvPr id="148" name="Google Shape;148;g38054e8803b_0_20"/>
            <p:cNvSpPr/>
            <p:nvPr/>
          </p:nvSpPr>
          <p:spPr>
            <a:xfrm>
              <a:off x="1376171" y="1373865"/>
              <a:ext cx="1891800" cy="443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38054e8803b_0_20"/>
            <p:cNvSpPr txBox="1"/>
            <p:nvPr/>
          </p:nvSpPr>
          <p:spPr>
            <a:xfrm>
              <a:off x="1376171" y="1373865"/>
              <a:ext cx="1891800" cy="443700"/>
            </a:xfrm>
            <a:prstGeom prst="rect">
              <a:avLst/>
            </a:prstGeom>
            <a:noFill/>
            <a:ln>
              <a:noFill/>
            </a:ln>
          </p:spPr>
          <p:txBody>
            <a:bodyPr anchorCtr="1" anchor="b"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Present</a:t>
              </a:r>
              <a:endParaRPr b="0" i="0" sz="1600" u="none" cap="none" strike="noStrike">
                <a:solidFill>
                  <a:schemeClr val="dk1"/>
                </a:solidFill>
                <a:latin typeface="Calibri"/>
                <a:ea typeface="Calibri"/>
                <a:cs typeface="Calibri"/>
                <a:sym typeface="Calibri"/>
              </a:endParaRPr>
            </a:p>
          </p:txBody>
        </p:sp>
        <p:sp>
          <p:nvSpPr>
            <p:cNvPr id="150" name="Google Shape;150;g38054e8803b_0_20"/>
            <p:cNvSpPr/>
            <p:nvPr/>
          </p:nvSpPr>
          <p:spPr>
            <a:xfrm>
              <a:off x="1045773" y="1933224"/>
              <a:ext cx="58800" cy="58800"/>
            </a:xfrm>
            <a:prstGeom prst="ellipse">
              <a:avLst/>
            </a:prstGeom>
            <a:solidFill>
              <a:schemeClr val="accen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8054e8803b_0_20"/>
            <p:cNvSpPr/>
            <p:nvPr/>
          </p:nvSpPr>
          <p:spPr>
            <a:xfrm>
              <a:off x="1247189" y="2708477"/>
              <a:ext cx="2149800" cy="669300"/>
            </a:xfrm>
            <a:prstGeom prst="roundRect">
              <a:avLst>
                <a:gd fmla="val 16667" name="adj"/>
              </a:avLst>
            </a:prstGeom>
            <a:solidFill>
              <a:schemeClr val="lt1">
                <a:alpha val="8902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8054e8803b_0_20"/>
            <p:cNvSpPr txBox="1"/>
            <p:nvPr/>
          </p:nvSpPr>
          <p:spPr>
            <a:xfrm>
              <a:off x="1279860" y="2741148"/>
              <a:ext cx="2084400" cy="603900"/>
            </a:xfrm>
            <a:prstGeom prst="rect">
              <a:avLst/>
            </a:prstGeom>
            <a:noFill/>
            <a:ln>
              <a:noFill/>
            </a:ln>
          </p:spPr>
          <p:txBody>
            <a:bodyPr anchorCtr="0" anchor="ctr" bIns="115550" lIns="115550" spcFirstLastPara="1" rIns="115550" wrap="square" tIns="115550">
              <a:noAutofit/>
            </a:bodyPr>
            <a:lstStyle/>
            <a:p>
              <a:pPr indent="0" lvl="0" marL="0" marR="0" rtl="0" algn="ctr">
                <a:lnSpc>
                  <a:spcPct val="90000"/>
                </a:lnSpc>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Show current state of business</a:t>
              </a:r>
              <a:endParaRPr b="0" i="0" sz="1300" u="none" cap="none" strike="noStrike">
                <a:solidFill>
                  <a:schemeClr val="dk1"/>
                </a:solidFill>
                <a:latin typeface="Calibri"/>
                <a:ea typeface="Calibri"/>
                <a:cs typeface="Calibri"/>
                <a:sym typeface="Calibri"/>
              </a:endParaRPr>
            </a:p>
          </p:txBody>
        </p:sp>
        <p:cxnSp>
          <p:nvCxnSpPr>
            <p:cNvPr id="153" name="Google Shape;153;g38054e8803b_0_20"/>
            <p:cNvCxnSpPr/>
            <p:nvPr/>
          </p:nvCxnSpPr>
          <p:spPr>
            <a:xfrm>
              <a:off x="2322040" y="1962664"/>
              <a:ext cx="0" cy="745800"/>
            </a:xfrm>
            <a:prstGeom prst="straightConnector1">
              <a:avLst/>
            </a:prstGeom>
            <a:noFill/>
            <a:ln cap="flat" cmpd="sng" w="9525">
              <a:solidFill>
                <a:schemeClr val="accent1"/>
              </a:solidFill>
              <a:prstDash val="dash"/>
              <a:round/>
              <a:headEnd len="sm" w="sm" type="none"/>
              <a:tailEnd len="sm" w="sm" type="none"/>
            </a:ln>
          </p:spPr>
        </p:cxnSp>
        <p:sp>
          <p:nvSpPr>
            <p:cNvPr id="154" name="Google Shape;154;g38054e8803b_0_20"/>
            <p:cNvSpPr/>
            <p:nvPr/>
          </p:nvSpPr>
          <p:spPr>
            <a:xfrm>
              <a:off x="2622998" y="2107901"/>
              <a:ext cx="1891800" cy="443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g38054e8803b_0_20"/>
            <p:cNvSpPr txBox="1"/>
            <p:nvPr/>
          </p:nvSpPr>
          <p:spPr>
            <a:xfrm>
              <a:off x="2622998" y="2107901"/>
              <a:ext cx="1891800" cy="443700"/>
            </a:xfrm>
            <a:prstGeom prst="rect">
              <a:avLst/>
            </a:prstGeom>
            <a:noFill/>
            <a:ln>
              <a:noFill/>
            </a:ln>
          </p:spPr>
          <p:txBody>
            <a:bodyPr anchorCtr="1" anchor="t"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Future </a:t>
              </a:r>
              <a:endParaRPr b="0" i="0" sz="1600" u="none" cap="none" strike="noStrike">
                <a:solidFill>
                  <a:schemeClr val="dk1"/>
                </a:solidFill>
                <a:latin typeface="Calibri"/>
                <a:ea typeface="Calibri"/>
                <a:cs typeface="Calibri"/>
                <a:sym typeface="Calibri"/>
              </a:endParaRPr>
            </a:p>
          </p:txBody>
        </p:sp>
        <p:sp>
          <p:nvSpPr>
            <p:cNvPr id="156" name="Google Shape;156;g38054e8803b_0_20"/>
            <p:cNvSpPr/>
            <p:nvPr/>
          </p:nvSpPr>
          <p:spPr>
            <a:xfrm>
              <a:off x="2292600" y="1933224"/>
              <a:ext cx="58800" cy="58800"/>
            </a:xfrm>
            <a:prstGeom prst="ellipse">
              <a:avLst/>
            </a:prstGeom>
            <a:solidFill>
              <a:schemeClr val="accen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g38054e8803b_0_20"/>
            <p:cNvSpPr/>
            <p:nvPr/>
          </p:nvSpPr>
          <p:spPr>
            <a:xfrm>
              <a:off x="2494016" y="547583"/>
              <a:ext cx="2149800" cy="669300"/>
            </a:xfrm>
            <a:prstGeom prst="roundRect">
              <a:avLst>
                <a:gd fmla="val 16667" name="adj"/>
              </a:avLst>
            </a:prstGeom>
            <a:solidFill>
              <a:schemeClr val="lt1">
                <a:alpha val="8902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g38054e8803b_0_20"/>
            <p:cNvSpPr txBox="1"/>
            <p:nvPr/>
          </p:nvSpPr>
          <p:spPr>
            <a:xfrm>
              <a:off x="2526687" y="580254"/>
              <a:ext cx="2084400" cy="603900"/>
            </a:xfrm>
            <a:prstGeom prst="rect">
              <a:avLst/>
            </a:prstGeom>
            <a:noFill/>
            <a:ln>
              <a:noFill/>
            </a:ln>
          </p:spPr>
          <p:txBody>
            <a:bodyPr anchorCtr="0" anchor="ctr" bIns="115550" lIns="115550" spcFirstLastPara="1" rIns="115550" wrap="square" tIns="115550">
              <a:noAutofit/>
            </a:bodyPr>
            <a:lstStyle/>
            <a:p>
              <a:pPr indent="0" lvl="0" marL="0" marR="0" rtl="0" algn="ctr">
                <a:lnSpc>
                  <a:spcPct val="90000"/>
                </a:lnSpc>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Predict future events &amp; ramifications of actions</a:t>
              </a:r>
              <a:endParaRPr b="0" i="0" sz="1300" u="none" cap="none" strike="noStrike">
                <a:solidFill>
                  <a:schemeClr val="dk1"/>
                </a:solidFill>
                <a:latin typeface="Calibri"/>
                <a:ea typeface="Calibri"/>
                <a:cs typeface="Calibri"/>
                <a:sym typeface="Calibri"/>
              </a:endParaRPr>
            </a:p>
          </p:txBody>
        </p:sp>
        <p:cxnSp>
          <p:nvCxnSpPr>
            <p:cNvPr id="159" name="Google Shape;159;g38054e8803b_0_20"/>
            <p:cNvCxnSpPr/>
            <p:nvPr/>
          </p:nvCxnSpPr>
          <p:spPr>
            <a:xfrm>
              <a:off x="3568867" y="1216851"/>
              <a:ext cx="0" cy="745800"/>
            </a:xfrm>
            <a:prstGeom prst="straightConnector1">
              <a:avLst/>
            </a:prstGeom>
            <a:noFill/>
            <a:ln cap="flat" cmpd="sng" w="9525">
              <a:solidFill>
                <a:schemeClr val="accent1"/>
              </a:solidFill>
              <a:prstDash val="dash"/>
              <a:round/>
              <a:headEnd len="sm" w="sm" type="none"/>
              <a:tailEnd len="sm" w="sm" type="none"/>
            </a:ln>
          </p:spPr>
        </p:cxnSp>
        <p:sp>
          <p:nvSpPr>
            <p:cNvPr id="160" name="Google Shape;160;g38054e8803b_0_20"/>
            <p:cNvSpPr/>
            <p:nvPr/>
          </p:nvSpPr>
          <p:spPr>
            <a:xfrm>
              <a:off x="3539427" y="1933224"/>
              <a:ext cx="58800" cy="58800"/>
            </a:xfrm>
            <a:prstGeom prst="ellipse">
              <a:avLst/>
            </a:prstGeom>
            <a:solidFill>
              <a:schemeClr val="accen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8054e8803b_0_45"/>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Why Now?</a:t>
            </a:r>
            <a:endParaRPr/>
          </a:p>
        </p:txBody>
      </p:sp>
      <p:sp>
        <p:nvSpPr>
          <p:cNvPr id="166" name="Google Shape;166;g38054e8803b_0_45"/>
          <p:cNvSpPr txBox="1"/>
          <p:nvPr/>
        </p:nvSpPr>
        <p:spPr>
          <a:xfrm>
            <a:off x="1055244" y="1063737"/>
            <a:ext cx="2722200" cy="369300"/>
          </a:xfrm>
          <a:prstGeom prst="rect">
            <a:avLst/>
          </a:prstGeom>
          <a:solidFill>
            <a:schemeClr val="lt1"/>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Algorithmic Advances</a:t>
            </a:r>
            <a:endParaRPr b="0" i="0" sz="1400" u="none" cap="none" strike="noStrike">
              <a:solidFill>
                <a:srgbClr val="000000"/>
              </a:solidFill>
              <a:latin typeface="Arial"/>
              <a:ea typeface="Arial"/>
              <a:cs typeface="Arial"/>
              <a:sym typeface="Arial"/>
            </a:endParaRPr>
          </a:p>
        </p:txBody>
      </p:sp>
      <p:sp>
        <p:nvSpPr>
          <p:cNvPr id="167" name="Google Shape;167;g38054e8803b_0_45"/>
          <p:cNvSpPr txBox="1"/>
          <p:nvPr/>
        </p:nvSpPr>
        <p:spPr>
          <a:xfrm>
            <a:off x="1055244" y="1728675"/>
            <a:ext cx="2763300" cy="369300"/>
          </a:xfrm>
          <a:prstGeom prst="rect">
            <a:avLst/>
          </a:prstGeom>
          <a:solidFill>
            <a:schemeClr val="lt1"/>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Explosion of Data</a:t>
            </a:r>
            <a:endParaRPr b="0" i="0" sz="1400" u="none" cap="none" strike="noStrike">
              <a:solidFill>
                <a:srgbClr val="000000"/>
              </a:solidFill>
              <a:latin typeface="Arial"/>
              <a:ea typeface="Arial"/>
              <a:cs typeface="Arial"/>
              <a:sym typeface="Arial"/>
            </a:endParaRPr>
          </a:p>
        </p:txBody>
      </p:sp>
      <p:sp>
        <p:nvSpPr>
          <p:cNvPr id="168" name="Google Shape;168;g38054e8803b_0_45"/>
          <p:cNvSpPr txBox="1"/>
          <p:nvPr/>
        </p:nvSpPr>
        <p:spPr>
          <a:xfrm>
            <a:off x="1053528" y="2393628"/>
            <a:ext cx="2766600" cy="64650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Increases in Computing Power/Storage</a:t>
            </a:r>
            <a:endParaRPr b="0" i="0" sz="1400" u="none" cap="none" strike="noStrike">
              <a:solidFill>
                <a:srgbClr val="000000"/>
              </a:solidFill>
              <a:latin typeface="Arial"/>
              <a:ea typeface="Arial"/>
              <a:cs typeface="Arial"/>
              <a:sym typeface="Arial"/>
            </a:endParaRPr>
          </a:p>
        </p:txBody>
      </p:sp>
      <p:sp>
        <p:nvSpPr>
          <p:cNvPr id="169" name="Google Shape;169;g38054e8803b_0_45"/>
          <p:cNvSpPr/>
          <p:nvPr/>
        </p:nvSpPr>
        <p:spPr>
          <a:xfrm rot="1201242">
            <a:off x="4000487" y="1444406"/>
            <a:ext cx="1679813" cy="325331"/>
          </a:xfrm>
          <a:prstGeom prst="rightArrow">
            <a:avLst>
              <a:gd fmla="val 50000" name="adj1"/>
              <a:gd fmla="val 153462" name="adj2"/>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 name="Google Shape;170;g38054e8803b_0_45"/>
          <p:cNvSpPr/>
          <p:nvPr/>
        </p:nvSpPr>
        <p:spPr>
          <a:xfrm rot="812334">
            <a:off x="4000757" y="1959265"/>
            <a:ext cx="1626190" cy="325252"/>
          </a:xfrm>
          <a:prstGeom prst="rightArrow">
            <a:avLst>
              <a:gd fmla="val 50000" name="adj1"/>
              <a:gd fmla="val 175249" name="adj2"/>
            </a:avLst>
          </a:prstGeom>
          <a:solidFill>
            <a:schemeClr val="lt1"/>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 name="Google Shape;171;g38054e8803b_0_45"/>
          <p:cNvSpPr/>
          <p:nvPr/>
        </p:nvSpPr>
        <p:spPr>
          <a:xfrm rot="-1268">
            <a:off x="4098615" y="2494659"/>
            <a:ext cx="1626300" cy="325200"/>
          </a:xfrm>
          <a:prstGeom prst="rightArrow">
            <a:avLst>
              <a:gd fmla="val 50000" name="adj1"/>
              <a:gd fmla="val 153524" name="adj2"/>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g38054e8803b_0_45"/>
          <p:cNvSpPr txBox="1"/>
          <p:nvPr/>
        </p:nvSpPr>
        <p:spPr>
          <a:xfrm>
            <a:off x="6165295" y="1966260"/>
            <a:ext cx="1485000" cy="10773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 Data Science</a:t>
            </a:r>
            <a:endParaRPr b="0" i="0" sz="1400" u="none" cap="none" strike="noStrike">
              <a:solidFill>
                <a:srgbClr val="000000"/>
              </a:solidFill>
              <a:latin typeface="Arial"/>
              <a:ea typeface="Arial"/>
              <a:cs typeface="Arial"/>
              <a:sym typeface="Arial"/>
            </a:endParaRPr>
          </a:p>
        </p:txBody>
      </p:sp>
      <p:sp>
        <p:nvSpPr>
          <p:cNvPr id="173" name="Google Shape;173;g38054e8803b_0_45"/>
          <p:cNvSpPr txBox="1"/>
          <p:nvPr/>
        </p:nvSpPr>
        <p:spPr>
          <a:xfrm>
            <a:off x="6005209" y="4587548"/>
            <a:ext cx="28665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This document is for the exclusive use of Deep Dive bootcamp participants during the bootcamp. This document may not be shared or duplicated</a:t>
            </a:r>
            <a:endParaRPr b="0" i="0" sz="1400" u="none" cap="none" strike="noStrike">
              <a:solidFill>
                <a:srgbClr val="000000"/>
              </a:solidFill>
              <a:latin typeface="Arial"/>
              <a:ea typeface="Arial"/>
              <a:cs typeface="Arial"/>
              <a:sym typeface="Arial"/>
            </a:endParaRPr>
          </a:p>
        </p:txBody>
      </p:sp>
      <p:sp>
        <p:nvSpPr>
          <p:cNvPr id="174" name="Google Shape;174;g38054e8803b_0_45"/>
          <p:cNvSpPr txBox="1"/>
          <p:nvPr/>
        </p:nvSpPr>
        <p:spPr>
          <a:xfrm>
            <a:off x="1053530" y="3308028"/>
            <a:ext cx="2766600" cy="6465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Availability and</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Accessibility</a:t>
            </a:r>
            <a:endParaRPr b="0" i="0" sz="1800" u="none" cap="none" strike="noStrike">
              <a:solidFill>
                <a:schemeClr val="dk1"/>
              </a:solidFill>
              <a:latin typeface="Calibri"/>
              <a:ea typeface="Calibri"/>
              <a:cs typeface="Calibri"/>
              <a:sym typeface="Calibri"/>
            </a:endParaRPr>
          </a:p>
        </p:txBody>
      </p:sp>
      <p:sp>
        <p:nvSpPr>
          <p:cNvPr id="175" name="Google Shape;175;g38054e8803b_0_45"/>
          <p:cNvSpPr/>
          <p:nvPr/>
        </p:nvSpPr>
        <p:spPr>
          <a:xfrm rot="-794032">
            <a:off x="4098691" y="3180448"/>
            <a:ext cx="1626288" cy="325127"/>
          </a:xfrm>
          <a:prstGeom prst="rightArrow">
            <a:avLst>
              <a:gd fmla="val 50000" name="adj1"/>
              <a:gd fmla="val 153524" name="adj2"/>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8054e8803b_0_59"/>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Who Can Benefit From Data?</a:t>
            </a:r>
            <a:endParaRPr/>
          </a:p>
        </p:txBody>
      </p:sp>
      <p:sp>
        <p:nvSpPr>
          <p:cNvPr id="181" name="Google Shape;181;g38054e8803b_0_59"/>
          <p:cNvSpPr txBox="1"/>
          <p:nvPr>
            <p:ph idx="1" type="body"/>
          </p:nvPr>
        </p:nvSpPr>
        <p:spPr>
          <a:xfrm>
            <a:off x="457200" y="1200151"/>
            <a:ext cx="6180300" cy="2776500"/>
          </a:xfrm>
          <a:prstGeom prst="rect">
            <a:avLst/>
          </a:prstGeom>
          <a:noFill/>
          <a:ln>
            <a:noFill/>
          </a:ln>
        </p:spPr>
        <p:txBody>
          <a:bodyPr anchorCtr="0" anchor="t" bIns="45700" lIns="91425" spcFirstLastPara="1" rIns="91425" wrap="square" tIns="45700">
            <a:normAutofit fontScale="85000" lnSpcReduction="20000"/>
          </a:bodyPr>
          <a:lstStyle/>
          <a:p>
            <a:pPr indent="-327660" lvl="0" marL="342900" rtl="0" algn="l">
              <a:lnSpc>
                <a:spcPct val="100000"/>
              </a:lnSpc>
              <a:spcBef>
                <a:spcPts val="0"/>
              </a:spcBef>
              <a:spcAft>
                <a:spcPts val="0"/>
              </a:spcAft>
              <a:buClr>
                <a:schemeClr val="dk1"/>
              </a:buClr>
              <a:buSzPct val="100000"/>
              <a:buChar char="•"/>
            </a:pPr>
            <a:r>
              <a:rPr lang="en-US"/>
              <a:t> Not just mega-organizations or tech</a:t>
            </a:r>
            <a:endParaRPr/>
          </a:p>
          <a:p>
            <a:pPr indent="-111125" lvl="8" marL="3886200" rtl="0" algn="l">
              <a:lnSpc>
                <a:spcPct val="100000"/>
              </a:lnSpc>
              <a:spcBef>
                <a:spcPts val="370"/>
              </a:spcBef>
              <a:spcAft>
                <a:spcPts val="0"/>
              </a:spcAft>
              <a:buClr>
                <a:schemeClr val="dk1"/>
              </a:buClr>
              <a:buSzPct val="100000"/>
              <a:buNone/>
            </a:pPr>
            <a:r>
              <a:t/>
            </a:r>
            <a:endParaRPr/>
          </a:p>
          <a:p>
            <a:pPr indent="-327660" lvl="0" marL="342900" rtl="0" algn="l">
              <a:lnSpc>
                <a:spcPct val="100000"/>
              </a:lnSpc>
              <a:spcBef>
                <a:spcPts val="592"/>
              </a:spcBef>
              <a:spcAft>
                <a:spcPts val="0"/>
              </a:spcAft>
              <a:buClr>
                <a:schemeClr val="dk1"/>
              </a:buClr>
              <a:buSzPct val="100000"/>
              <a:buChar char="•"/>
            </a:pPr>
            <a:r>
              <a:rPr lang="en-US"/>
              <a:t>Non-technical use cases</a:t>
            </a:r>
            <a:endParaRPr/>
          </a:p>
          <a:p>
            <a:pPr indent="-274320" lvl="1" marL="742950" rtl="0" algn="l">
              <a:lnSpc>
                <a:spcPct val="100000"/>
              </a:lnSpc>
              <a:spcBef>
                <a:spcPts val="444"/>
              </a:spcBef>
              <a:spcAft>
                <a:spcPts val="0"/>
              </a:spcAft>
              <a:buClr>
                <a:schemeClr val="dk1"/>
              </a:buClr>
              <a:buSzPct val="100000"/>
              <a:buChar char="–"/>
            </a:pPr>
            <a:r>
              <a:rPr lang="en-US" sz="2400"/>
              <a:t>Sports teams: Maximizing bang for buck </a:t>
            </a:r>
            <a:endParaRPr/>
          </a:p>
          <a:p>
            <a:pPr indent="-274320" lvl="1" marL="742950" rtl="0" algn="l">
              <a:lnSpc>
                <a:spcPct val="100000"/>
              </a:lnSpc>
              <a:spcBef>
                <a:spcPts val="444"/>
              </a:spcBef>
              <a:spcAft>
                <a:spcPts val="0"/>
              </a:spcAft>
              <a:buClr>
                <a:schemeClr val="dk1"/>
              </a:buClr>
              <a:buSzPct val="100000"/>
              <a:buChar char="–"/>
            </a:pPr>
            <a:r>
              <a:rPr lang="en-US" sz="2400"/>
              <a:t>Health/medicine: Reactive to preventative</a:t>
            </a:r>
            <a:endParaRPr sz="2400"/>
          </a:p>
          <a:p>
            <a:pPr indent="-274320" lvl="1" marL="742950" rtl="0" algn="l">
              <a:lnSpc>
                <a:spcPct val="100000"/>
              </a:lnSpc>
              <a:spcBef>
                <a:spcPts val="444"/>
              </a:spcBef>
              <a:spcAft>
                <a:spcPts val="0"/>
              </a:spcAft>
              <a:buClr>
                <a:schemeClr val="dk1"/>
              </a:buClr>
              <a:buSzPct val="100000"/>
              <a:buChar char="–"/>
            </a:pPr>
            <a:r>
              <a:rPr lang="en-US" sz="2400"/>
              <a:t>Retail: Recommending products, predicting customer behavior</a:t>
            </a:r>
            <a:endParaRPr sz="2400"/>
          </a:p>
          <a:p>
            <a:pPr indent="-154940" lvl="0" marL="342900" rtl="0" algn="l">
              <a:lnSpc>
                <a:spcPct val="100000"/>
              </a:lnSpc>
              <a:spcBef>
                <a:spcPts val="592"/>
              </a:spcBef>
              <a:spcAft>
                <a:spcPts val="0"/>
              </a:spcAft>
              <a:buClr>
                <a:schemeClr val="dk1"/>
              </a:buClr>
              <a:buSzPct val="100000"/>
              <a:buNone/>
            </a:pPr>
            <a:r>
              <a:t/>
            </a:r>
            <a:endParaRPr/>
          </a:p>
        </p:txBody>
      </p:sp>
      <p:pic>
        <p:nvPicPr>
          <p:cNvPr id="182" name="Google Shape;182;g38054e8803b_0_59"/>
          <p:cNvPicPr preferRelativeResize="0"/>
          <p:nvPr/>
        </p:nvPicPr>
        <p:blipFill rotWithShape="1">
          <a:blip r:embed="rId3">
            <a:alphaModFix/>
          </a:blip>
          <a:srcRect b="0" l="0" r="0" t="0"/>
          <a:stretch/>
        </p:blipFill>
        <p:spPr>
          <a:xfrm>
            <a:off x="6808939" y="1841073"/>
            <a:ext cx="2191250" cy="1460586"/>
          </a:xfrm>
          <a:prstGeom prst="rect">
            <a:avLst/>
          </a:prstGeom>
          <a:noFill/>
          <a:ln>
            <a:noFill/>
          </a:ln>
        </p:spPr>
      </p:pic>
      <p:sp>
        <p:nvSpPr>
          <p:cNvPr id="183" name="Google Shape;183;g38054e8803b_0_59"/>
          <p:cNvSpPr txBox="1"/>
          <p:nvPr/>
        </p:nvSpPr>
        <p:spPr>
          <a:xfrm>
            <a:off x="6005209" y="4587548"/>
            <a:ext cx="28665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This document is for the exclusive use of Deep Dive bootcamp participants during the bootcamp. This document may not be shared or duplicated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8054e8803b_0_66"/>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Ways to Use Data</a:t>
            </a:r>
            <a:endParaRPr/>
          </a:p>
        </p:txBody>
      </p:sp>
      <p:sp>
        <p:nvSpPr>
          <p:cNvPr id="189" name="Google Shape;189;g38054e8803b_0_66"/>
          <p:cNvSpPr txBox="1"/>
          <p:nvPr>
            <p:ph idx="1" type="body"/>
          </p:nvPr>
        </p:nvSpPr>
        <p:spPr>
          <a:xfrm>
            <a:off x="457200" y="1200151"/>
            <a:ext cx="2133600" cy="623700"/>
          </a:xfrm>
          <a:prstGeom prst="rect">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t" bIns="45700" lIns="91425" spcFirstLastPara="1" rIns="91425" wrap="square" tIns="45700">
            <a:normAutofit fontScale="62500" lnSpcReduction="20000"/>
          </a:bodyPr>
          <a:lstStyle/>
          <a:p>
            <a:pPr indent="0" lvl="0" marL="0" rtl="0" algn="ctr">
              <a:lnSpc>
                <a:spcPct val="100000"/>
              </a:lnSpc>
              <a:spcBef>
                <a:spcPts val="0"/>
              </a:spcBef>
              <a:spcAft>
                <a:spcPts val="0"/>
              </a:spcAft>
              <a:buClr>
                <a:schemeClr val="lt1"/>
              </a:buClr>
              <a:buSzPct val="100000"/>
              <a:buNone/>
            </a:pPr>
            <a:r>
              <a:rPr lang="en-US">
                <a:solidFill>
                  <a:schemeClr val="lt1"/>
                </a:solidFill>
                <a:latin typeface="Calibri"/>
                <a:ea typeface="Calibri"/>
                <a:cs typeface="Calibri"/>
                <a:sym typeface="Calibri"/>
              </a:rPr>
              <a:t>Predict</a:t>
            </a:r>
            <a:endParaRPr/>
          </a:p>
          <a:p>
            <a:pPr indent="-107950" lvl="1" marL="742950" rtl="0" algn="l">
              <a:lnSpc>
                <a:spcPct val="100000"/>
              </a:lnSpc>
              <a:spcBef>
                <a:spcPts val="560"/>
              </a:spcBef>
              <a:spcAft>
                <a:spcPts val="0"/>
              </a:spcAft>
              <a:buClr>
                <a:schemeClr val="dk1"/>
              </a:buClr>
              <a:buSzPct val="100000"/>
              <a:buNone/>
            </a:pPr>
            <a:r>
              <a:t/>
            </a:r>
            <a:endParaRPr/>
          </a:p>
        </p:txBody>
      </p:sp>
      <p:sp>
        <p:nvSpPr>
          <p:cNvPr id="190" name="Google Shape;190;g38054e8803b_0_66"/>
          <p:cNvSpPr txBox="1"/>
          <p:nvPr/>
        </p:nvSpPr>
        <p:spPr>
          <a:xfrm>
            <a:off x="2964873" y="1202460"/>
            <a:ext cx="5724300" cy="623700"/>
          </a:xfrm>
          <a:prstGeom prst="rect">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rPr b="0" i="0" lang="en-US" sz="1800" u="none" cap="none" strike="noStrike">
                <a:solidFill>
                  <a:schemeClr val="lt1"/>
                </a:solidFill>
                <a:latin typeface="Calibri"/>
                <a:ea typeface="Calibri"/>
                <a:cs typeface="Calibri"/>
                <a:sym typeface="Calibri"/>
              </a:rPr>
              <a:t>Predict outcomes such as customer behavior, product prices, or health measures</a:t>
            </a:r>
            <a:endParaRPr b="0" i="0" sz="1400" u="none" cap="none" strike="noStrike">
              <a:solidFill>
                <a:srgbClr val="000000"/>
              </a:solidFill>
              <a:latin typeface="Arial"/>
              <a:ea typeface="Arial"/>
              <a:cs typeface="Arial"/>
              <a:sym typeface="Arial"/>
            </a:endParaRPr>
          </a:p>
        </p:txBody>
      </p:sp>
      <p:sp>
        <p:nvSpPr>
          <p:cNvPr id="191" name="Google Shape;191;g38054e8803b_0_66"/>
          <p:cNvSpPr txBox="1"/>
          <p:nvPr/>
        </p:nvSpPr>
        <p:spPr>
          <a:xfrm>
            <a:off x="2968888" y="1887728"/>
            <a:ext cx="57162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Adidas use predictive analytics to forecast product demand and personalize marketing by analyzing past purchase data, browsing behavior, and demographics. This helps anticipate what customers will buy and when.</a:t>
            </a:r>
            <a:endParaRPr b="0" i="1"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1"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1" lang="en-US" sz="1800" u="sng" cap="none" strike="noStrike">
                <a:solidFill>
                  <a:schemeClr val="hlink"/>
                </a:solidFill>
                <a:latin typeface="Calibri"/>
                <a:ea typeface="Calibri"/>
                <a:cs typeface="Calibri"/>
                <a:sym typeface="Calibri"/>
                <a:hlinkClick r:id="rId3"/>
              </a:rPr>
              <a:t>https://appinventiv.com/blog/retail-predictive-analytics/</a:t>
            </a:r>
            <a:endParaRPr b="0" i="1" sz="1800" u="none" cap="none" strike="noStrike">
              <a:solidFill>
                <a:schemeClr val="dk1"/>
              </a:solidFill>
              <a:latin typeface="Calibri"/>
              <a:ea typeface="Calibri"/>
              <a:cs typeface="Calibri"/>
              <a:sym typeface="Calibri"/>
            </a:endParaRPr>
          </a:p>
        </p:txBody>
      </p:sp>
      <p:sp>
        <p:nvSpPr>
          <p:cNvPr id="192" name="Google Shape;192;g38054e8803b_0_66"/>
          <p:cNvSpPr txBox="1"/>
          <p:nvPr/>
        </p:nvSpPr>
        <p:spPr>
          <a:xfrm>
            <a:off x="306859" y="4165771"/>
            <a:ext cx="2743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https://commons.wikimedia.org/wiki/File:Oevlk_-_Volvo_VNL.jpg</a:t>
            </a:r>
            <a:endParaRPr b="0" i="0" sz="1400" u="none" cap="none" strike="noStrike">
              <a:solidFill>
                <a:srgbClr val="000000"/>
              </a:solidFill>
              <a:latin typeface="Arial"/>
              <a:ea typeface="Arial"/>
              <a:cs typeface="Arial"/>
              <a:sym typeface="Arial"/>
            </a:endParaRPr>
          </a:p>
        </p:txBody>
      </p:sp>
      <p:pic>
        <p:nvPicPr>
          <p:cNvPr id="193" name="Google Shape;193;g38054e8803b_0_66"/>
          <p:cNvPicPr preferRelativeResize="0"/>
          <p:nvPr/>
        </p:nvPicPr>
        <p:blipFill rotWithShape="1">
          <a:blip r:embed="rId4">
            <a:alphaModFix/>
          </a:blip>
          <a:srcRect b="0" l="0" r="0" t="0"/>
          <a:stretch/>
        </p:blipFill>
        <p:spPr>
          <a:xfrm>
            <a:off x="457200" y="2069250"/>
            <a:ext cx="2133601" cy="195263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8054e8803b_0_75"/>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Ways to Use Data</a:t>
            </a:r>
            <a:endParaRPr/>
          </a:p>
        </p:txBody>
      </p:sp>
      <p:sp>
        <p:nvSpPr>
          <p:cNvPr id="199" name="Google Shape;199;g38054e8803b_0_75"/>
          <p:cNvSpPr txBox="1"/>
          <p:nvPr>
            <p:ph idx="1" type="body"/>
          </p:nvPr>
        </p:nvSpPr>
        <p:spPr>
          <a:xfrm>
            <a:off x="341746" y="1200151"/>
            <a:ext cx="2249100" cy="623700"/>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t" bIns="45700" lIns="91425" spcFirstLastPara="1" rIns="91425" wrap="square" tIns="45700">
            <a:normAutofit fontScale="62500" lnSpcReduction="20000"/>
          </a:bodyPr>
          <a:lstStyle/>
          <a:p>
            <a:pPr indent="0" lvl="0" marL="0" rtl="0" algn="ctr">
              <a:lnSpc>
                <a:spcPct val="100000"/>
              </a:lnSpc>
              <a:spcBef>
                <a:spcPts val="0"/>
              </a:spcBef>
              <a:spcAft>
                <a:spcPts val="0"/>
              </a:spcAft>
              <a:buClr>
                <a:schemeClr val="lt1"/>
              </a:buClr>
              <a:buSzPct val="100000"/>
              <a:buNone/>
            </a:pPr>
            <a:r>
              <a:rPr lang="en-US">
                <a:solidFill>
                  <a:schemeClr val="lt1"/>
                </a:solidFill>
                <a:latin typeface="Calibri"/>
                <a:ea typeface="Calibri"/>
                <a:cs typeface="Calibri"/>
                <a:sym typeface="Calibri"/>
              </a:rPr>
              <a:t>Cluster</a:t>
            </a:r>
            <a:endParaRPr/>
          </a:p>
          <a:p>
            <a:pPr indent="-107950" lvl="1" marL="742950" rtl="0" algn="l">
              <a:lnSpc>
                <a:spcPct val="100000"/>
              </a:lnSpc>
              <a:spcBef>
                <a:spcPts val="560"/>
              </a:spcBef>
              <a:spcAft>
                <a:spcPts val="0"/>
              </a:spcAft>
              <a:buClr>
                <a:schemeClr val="dk1"/>
              </a:buClr>
              <a:buSzPct val="100000"/>
              <a:buNone/>
            </a:pPr>
            <a:r>
              <a:t/>
            </a:r>
            <a:endParaRPr/>
          </a:p>
        </p:txBody>
      </p:sp>
      <p:sp>
        <p:nvSpPr>
          <p:cNvPr id="200" name="Google Shape;200;g38054e8803b_0_75"/>
          <p:cNvSpPr txBox="1"/>
          <p:nvPr/>
        </p:nvSpPr>
        <p:spPr>
          <a:xfrm>
            <a:off x="2964873" y="1202460"/>
            <a:ext cx="5724300" cy="623700"/>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rPr b="0" i="0" lang="en-US" sz="1800" u="none" cap="none" strike="noStrike">
                <a:solidFill>
                  <a:schemeClr val="lt1"/>
                </a:solidFill>
                <a:latin typeface="Calibri"/>
                <a:ea typeface="Calibri"/>
                <a:cs typeface="Calibri"/>
                <a:sym typeface="Calibri"/>
              </a:rPr>
              <a:t>Behavior segmentation, pinpoint marketing, filtering nuisance material </a:t>
            </a:r>
            <a:endParaRPr b="0" i="0" sz="3200" u="none" cap="none" strike="noStrike">
              <a:solidFill>
                <a:schemeClr val="lt1"/>
              </a:solidFill>
              <a:latin typeface="Calibri"/>
              <a:ea typeface="Calibri"/>
              <a:cs typeface="Calibri"/>
              <a:sym typeface="Calibri"/>
            </a:endParaRPr>
          </a:p>
        </p:txBody>
      </p:sp>
      <p:sp>
        <p:nvSpPr>
          <p:cNvPr id="201" name="Google Shape;201;g38054e8803b_0_75"/>
          <p:cNvSpPr txBox="1"/>
          <p:nvPr/>
        </p:nvSpPr>
        <p:spPr>
          <a:xfrm>
            <a:off x="2963718" y="1927513"/>
            <a:ext cx="57162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240"/>
              </a:spcBef>
              <a:spcAft>
                <a:spcPts val="0"/>
              </a:spcAft>
              <a:buClr>
                <a:srgbClr val="000000"/>
              </a:buClr>
              <a:buSzPts val="1200"/>
              <a:buFont typeface="Arial"/>
              <a:buNone/>
            </a:pPr>
            <a:r>
              <a:rPr b="0" i="0" lang="en-US" sz="1800" u="none" cap="none" strike="noStrike">
                <a:solidFill>
                  <a:schemeClr val="dk1"/>
                </a:solidFill>
                <a:latin typeface="Calibri"/>
                <a:ea typeface="Calibri"/>
                <a:cs typeface="Calibri"/>
                <a:sym typeface="Calibri"/>
              </a:rPr>
              <a:t>Starbucks leverages its loyalty app to track customer purchase habits and visit frequency. This data allows them to segment customers based on their routines (e.g., morning coffee, afternoon break) and send targeted offers and promotions at the most relevant times via push notifications and email.</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1"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1" lang="en-US" sz="1800" u="sng" cap="none" strike="noStrike">
                <a:solidFill>
                  <a:schemeClr val="hlink"/>
                </a:solidFill>
                <a:latin typeface="Calibri"/>
                <a:ea typeface="Calibri"/>
                <a:cs typeface="Calibri"/>
                <a:sym typeface="Calibri"/>
                <a:hlinkClick r:id="rId3"/>
              </a:rPr>
              <a:t>https://www.salesmate.io/blog/behavioral-segmentation/</a:t>
            </a:r>
            <a:endParaRPr b="0" i="1" sz="1800" u="none" cap="none" strike="noStrike">
              <a:solidFill>
                <a:schemeClr val="dk1"/>
              </a:solidFill>
              <a:latin typeface="Calibri"/>
              <a:ea typeface="Calibri"/>
              <a:cs typeface="Calibri"/>
              <a:sym typeface="Calibri"/>
            </a:endParaRPr>
          </a:p>
        </p:txBody>
      </p:sp>
      <p:sp>
        <p:nvSpPr>
          <p:cNvPr id="202" name="Google Shape;202;g38054e8803b_0_75"/>
          <p:cNvSpPr txBox="1"/>
          <p:nvPr/>
        </p:nvSpPr>
        <p:spPr>
          <a:xfrm>
            <a:off x="162696" y="4134879"/>
            <a:ext cx="2743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https://commons.wikimedia.org/wiki/File:Salesforce_Users_Email_list.png</a:t>
            </a:r>
            <a:endParaRPr b="0" i="0" sz="800" u="none" cap="none" strike="noStrike">
              <a:solidFill>
                <a:schemeClr val="dk1"/>
              </a:solidFill>
              <a:latin typeface="Calibri"/>
              <a:ea typeface="Calibri"/>
              <a:cs typeface="Calibri"/>
              <a:sym typeface="Calibri"/>
            </a:endParaRPr>
          </a:p>
        </p:txBody>
      </p:sp>
      <p:pic>
        <p:nvPicPr>
          <p:cNvPr id="203" name="Google Shape;203;g38054e8803b_0_75"/>
          <p:cNvPicPr preferRelativeResize="0"/>
          <p:nvPr/>
        </p:nvPicPr>
        <p:blipFill rotWithShape="1">
          <a:blip r:embed="rId4">
            <a:alphaModFix/>
          </a:blip>
          <a:srcRect b="0" l="0" r="0" t="0"/>
          <a:stretch/>
        </p:blipFill>
        <p:spPr>
          <a:xfrm>
            <a:off x="268005" y="1960650"/>
            <a:ext cx="2532600" cy="25178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8054e8803b_0_84"/>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Ways to Use Data</a:t>
            </a:r>
            <a:endParaRPr/>
          </a:p>
        </p:txBody>
      </p:sp>
      <p:sp>
        <p:nvSpPr>
          <p:cNvPr id="209" name="Google Shape;209;g38054e8803b_0_84"/>
          <p:cNvSpPr txBox="1"/>
          <p:nvPr>
            <p:ph idx="1" type="body"/>
          </p:nvPr>
        </p:nvSpPr>
        <p:spPr>
          <a:xfrm>
            <a:off x="341746" y="1200151"/>
            <a:ext cx="2249100" cy="623700"/>
          </a:xfrm>
          <a:prstGeom prst="rect">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t" bIns="45700" lIns="91425" spcFirstLastPara="1" rIns="91425" wrap="square" tIns="45700">
            <a:normAutofit fontScale="62500" lnSpcReduction="20000"/>
          </a:bodyPr>
          <a:lstStyle/>
          <a:p>
            <a:pPr indent="0" lvl="0" marL="0" rtl="0" algn="ctr">
              <a:lnSpc>
                <a:spcPct val="100000"/>
              </a:lnSpc>
              <a:spcBef>
                <a:spcPts val="0"/>
              </a:spcBef>
              <a:spcAft>
                <a:spcPts val="0"/>
              </a:spcAft>
              <a:buClr>
                <a:schemeClr val="lt1"/>
              </a:buClr>
              <a:buSzPct val="100000"/>
              <a:buNone/>
            </a:pPr>
            <a:r>
              <a:rPr lang="en-US">
                <a:solidFill>
                  <a:schemeClr val="lt1"/>
                </a:solidFill>
                <a:latin typeface="Calibri"/>
                <a:ea typeface="Calibri"/>
                <a:cs typeface="Calibri"/>
                <a:sym typeface="Calibri"/>
              </a:rPr>
              <a:t>Optimize</a:t>
            </a:r>
            <a:endParaRPr/>
          </a:p>
          <a:p>
            <a:pPr indent="-107950" lvl="1" marL="742950" rtl="0" algn="l">
              <a:lnSpc>
                <a:spcPct val="100000"/>
              </a:lnSpc>
              <a:spcBef>
                <a:spcPts val="560"/>
              </a:spcBef>
              <a:spcAft>
                <a:spcPts val="0"/>
              </a:spcAft>
              <a:buClr>
                <a:schemeClr val="dk1"/>
              </a:buClr>
              <a:buSzPct val="100000"/>
              <a:buNone/>
            </a:pPr>
            <a:r>
              <a:t/>
            </a:r>
            <a:endParaRPr/>
          </a:p>
        </p:txBody>
      </p:sp>
      <p:sp>
        <p:nvSpPr>
          <p:cNvPr id="210" name="Google Shape;210;g38054e8803b_0_84"/>
          <p:cNvSpPr txBox="1"/>
          <p:nvPr/>
        </p:nvSpPr>
        <p:spPr>
          <a:xfrm>
            <a:off x="2964873" y="1202460"/>
            <a:ext cx="5724300" cy="623700"/>
          </a:xfrm>
          <a:prstGeom prst="rect">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rPr b="0" i="0" lang="en-US" sz="1800" u="none" cap="none" strike="noStrike">
                <a:solidFill>
                  <a:schemeClr val="lt1"/>
                </a:solidFill>
                <a:latin typeface="Calibri"/>
                <a:ea typeface="Calibri"/>
                <a:cs typeface="Calibri"/>
                <a:sym typeface="Calibri"/>
              </a:rPr>
              <a:t>Price points, marketing campaigns, inventory levels</a:t>
            </a:r>
            <a:endParaRPr b="0" i="0" sz="3200" u="none" cap="none" strike="noStrike">
              <a:solidFill>
                <a:schemeClr val="lt1"/>
              </a:solidFill>
              <a:latin typeface="Calibri"/>
              <a:ea typeface="Calibri"/>
              <a:cs typeface="Calibri"/>
              <a:sym typeface="Calibri"/>
            </a:endParaRPr>
          </a:p>
        </p:txBody>
      </p:sp>
      <p:sp>
        <p:nvSpPr>
          <p:cNvPr id="211" name="Google Shape;211;g38054e8803b_0_84"/>
          <p:cNvSpPr txBox="1"/>
          <p:nvPr/>
        </p:nvSpPr>
        <p:spPr>
          <a:xfrm>
            <a:off x="2963718" y="1927513"/>
            <a:ext cx="5716200" cy="3491400"/>
          </a:xfrm>
          <a:prstGeom prst="rect">
            <a:avLst/>
          </a:prstGeom>
          <a:noFill/>
          <a:ln>
            <a:noFill/>
          </a:ln>
        </p:spPr>
        <p:txBody>
          <a:bodyPr anchorCtr="0" anchor="t" bIns="45700" lIns="91425" spcFirstLastPara="1" rIns="91425" wrap="square" tIns="45700">
            <a:spAutoFit/>
          </a:bodyPr>
          <a:lstStyle/>
          <a:p>
            <a:pPr indent="-266700" lvl="0" marL="28575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Spotify analyzes listening habits and preferences to segment users and deliver highly targeted marketing campaigns for new artists, playlists, and events. This pinpoint approach increases the effectiveness of their marketing spend.</a:t>
            </a:r>
            <a:endParaRPr b="0" i="0" sz="15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a:p>
            <a:pPr indent="-266700" lvl="0" marL="285750" marR="0" rtl="0" algn="l">
              <a:lnSpc>
                <a:spcPct val="100000"/>
              </a:lnSpc>
              <a:spcBef>
                <a:spcPts val="36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Use robust optimization on a model of their inventory system that was fit to historical data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280"/>
              </a:spcBef>
              <a:spcAft>
                <a:spcPts val="0"/>
              </a:spcAft>
              <a:buClr>
                <a:srgbClr val="000000"/>
              </a:buClr>
              <a:buSzPts val="14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360"/>
              </a:spcBef>
              <a:spcAft>
                <a:spcPts val="0"/>
              </a:spcAft>
              <a:buClr>
                <a:srgbClr val="000000"/>
              </a:buClr>
              <a:buSzPts val="1800"/>
              <a:buFont typeface="Arial"/>
              <a:buNone/>
            </a:pPr>
            <a:r>
              <a:rPr b="0" i="0" lang="en-US" sz="1500" u="sng" cap="none" strike="noStrike">
                <a:solidFill>
                  <a:schemeClr val="hlink"/>
                </a:solidFill>
                <a:latin typeface="Calibri"/>
                <a:ea typeface="Calibri"/>
                <a:cs typeface="Calibri"/>
                <a:sym typeface="Calibri"/>
                <a:hlinkClick r:id="rId3"/>
              </a:rPr>
              <a:t>https://artists.spotify.com/en/blog/introducing-new-audience-segmentation-on-spotify-for-artists</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360"/>
              </a:spcBef>
              <a:spcAft>
                <a:spcPts val="0"/>
              </a:spcAft>
              <a:buClr>
                <a:srgbClr val="000000"/>
              </a:buClr>
              <a:buSzPts val="1800"/>
              <a:buFont typeface="Arial"/>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240"/>
              </a:spcBef>
              <a:spcAft>
                <a:spcPts val="0"/>
              </a:spcAft>
              <a:buClr>
                <a:srgbClr val="000000"/>
              </a:buClr>
              <a:buSzPts val="1200"/>
              <a:buFont typeface="Arial"/>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50"/>
              <a:buFont typeface="Arial"/>
              <a:buNone/>
            </a:pPr>
            <a:r>
              <a:t/>
            </a:r>
            <a:endParaRPr b="0" i="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1"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1" sz="1500" u="none" cap="none" strike="noStrike">
              <a:solidFill>
                <a:schemeClr val="dk1"/>
              </a:solidFill>
              <a:latin typeface="Calibri"/>
              <a:ea typeface="Calibri"/>
              <a:cs typeface="Calibri"/>
              <a:sym typeface="Calibri"/>
            </a:endParaRPr>
          </a:p>
        </p:txBody>
      </p:sp>
      <p:pic>
        <p:nvPicPr>
          <p:cNvPr id="212" name="Google Shape;212;g38054e8803b_0_84"/>
          <p:cNvPicPr preferRelativeResize="0"/>
          <p:nvPr/>
        </p:nvPicPr>
        <p:blipFill rotWithShape="1">
          <a:blip r:embed="rId4">
            <a:alphaModFix/>
          </a:blip>
          <a:srcRect b="0" l="0" r="0" t="0"/>
          <a:stretch/>
        </p:blipFill>
        <p:spPr>
          <a:xfrm>
            <a:off x="194975" y="2156325"/>
            <a:ext cx="2542601" cy="1622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8054e8803b_0_92"/>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Ways to Use Data</a:t>
            </a:r>
            <a:endParaRPr/>
          </a:p>
        </p:txBody>
      </p:sp>
      <p:sp>
        <p:nvSpPr>
          <p:cNvPr id="218" name="Google Shape;218;g38054e8803b_0_92"/>
          <p:cNvSpPr txBox="1"/>
          <p:nvPr>
            <p:ph idx="1" type="body"/>
          </p:nvPr>
        </p:nvSpPr>
        <p:spPr>
          <a:xfrm>
            <a:off x="341746" y="1200151"/>
            <a:ext cx="2249100" cy="623700"/>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t" bIns="45700" lIns="91425" spcFirstLastPara="1" rIns="91425" wrap="square" tIns="45700">
            <a:normAutofit fontScale="62500" lnSpcReduction="20000"/>
          </a:bodyPr>
          <a:lstStyle/>
          <a:p>
            <a:pPr indent="0" lvl="0" marL="0" rtl="0" algn="ctr">
              <a:lnSpc>
                <a:spcPct val="100000"/>
              </a:lnSpc>
              <a:spcBef>
                <a:spcPts val="0"/>
              </a:spcBef>
              <a:spcAft>
                <a:spcPts val="0"/>
              </a:spcAft>
              <a:buClr>
                <a:schemeClr val="lt1"/>
              </a:buClr>
              <a:buSzPct val="100000"/>
              <a:buNone/>
            </a:pPr>
            <a:r>
              <a:rPr lang="en-US">
                <a:solidFill>
                  <a:schemeClr val="lt1"/>
                </a:solidFill>
                <a:latin typeface="Calibri"/>
                <a:ea typeface="Calibri"/>
                <a:cs typeface="Calibri"/>
                <a:sym typeface="Calibri"/>
              </a:rPr>
              <a:t>Detect</a:t>
            </a:r>
            <a:endParaRPr/>
          </a:p>
          <a:p>
            <a:pPr indent="-107950" lvl="1" marL="742950" rtl="0" algn="l">
              <a:lnSpc>
                <a:spcPct val="100000"/>
              </a:lnSpc>
              <a:spcBef>
                <a:spcPts val="560"/>
              </a:spcBef>
              <a:spcAft>
                <a:spcPts val="0"/>
              </a:spcAft>
              <a:buClr>
                <a:schemeClr val="dk1"/>
              </a:buClr>
              <a:buSzPct val="100000"/>
              <a:buNone/>
            </a:pPr>
            <a:r>
              <a:t/>
            </a:r>
            <a:endParaRPr/>
          </a:p>
        </p:txBody>
      </p:sp>
      <p:sp>
        <p:nvSpPr>
          <p:cNvPr id="219" name="Google Shape;219;g38054e8803b_0_92"/>
          <p:cNvSpPr txBox="1"/>
          <p:nvPr/>
        </p:nvSpPr>
        <p:spPr>
          <a:xfrm>
            <a:off x="2964873" y="1202460"/>
            <a:ext cx="5724300" cy="623700"/>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rPr b="0" i="0" lang="en-US" sz="1800" u="none" cap="none" strike="noStrike">
                <a:solidFill>
                  <a:schemeClr val="lt1"/>
                </a:solidFill>
                <a:latin typeface="Calibri"/>
                <a:ea typeface="Calibri"/>
                <a:cs typeface="Calibri"/>
                <a:sym typeface="Calibri"/>
              </a:rPr>
              <a:t>Fraudulent activity, cyber-attacks, objects in images, process anomalies  </a:t>
            </a:r>
            <a:endParaRPr b="0" i="0" sz="1800" u="none" cap="none" strike="noStrike">
              <a:solidFill>
                <a:schemeClr val="lt1"/>
              </a:solidFill>
              <a:latin typeface="Calibri"/>
              <a:ea typeface="Calibri"/>
              <a:cs typeface="Calibri"/>
              <a:sym typeface="Calibri"/>
            </a:endParaRPr>
          </a:p>
        </p:txBody>
      </p:sp>
      <p:sp>
        <p:nvSpPr>
          <p:cNvPr id="220" name="Google Shape;220;g38054e8803b_0_92"/>
          <p:cNvSpPr txBox="1"/>
          <p:nvPr/>
        </p:nvSpPr>
        <p:spPr>
          <a:xfrm>
            <a:off x="2963718" y="1927513"/>
            <a:ext cx="5716200" cy="3286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Launched a platform called "BrewRight" that monitors transaction activity across 100 countries and uses machine learning to identify fraud and corruption.</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36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Used to help ensure compliance with the Federal Corrupt Practices Act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36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240"/>
              </a:spcBef>
              <a:spcAft>
                <a:spcPts val="0"/>
              </a:spcAft>
              <a:buClr>
                <a:srgbClr val="000000"/>
              </a:buClr>
              <a:buSzPts val="1200"/>
              <a:buFont typeface="Arial"/>
              <a:buNone/>
            </a:pPr>
            <a:r>
              <a:rPr b="0" i="0" lang="en-US" sz="1200" u="sng" cap="none" strike="noStrike">
                <a:solidFill>
                  <a:schemeClr val="hlink"/>
                </a:solidFill>
                <a:latin typeface="Calibri"/>
                <a:ea typeface="Calibri"/>
                <a:cs typeface="Calibri"/>
                <a:sym typeface="Calibri"/>
                <a:hlinkClick r:id="rId3"/>
              </a:rPr>
              <a:t>https://www.ab-inbev.com/news-media/innovation/how-brewright-is-rooting-out-corruption-at-ab-inbev-and-beyond/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1"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1" sz="1800" u="none" cap="none" strike="noStrike">
              <a:solidFill>
                <a:schemeClr val="dk1"/>
              </a:solidFill>
              <a:latin typeface="Calibri"/>
              <a:ea typeface="Calibri"/>
              <a:cs typeface="Calibri"/>
              <a:sym typeface="Calibri"/>
            </a:endParaRPr>
          </a:p>
        </p:txBody>
      </p:sp>
      <p:sp>
        <p:nvSpPr>
          <p:cNvPr id="221" name="Google Shape;221;g38054e8803b_0_92"/>
          <p:cNvSpPr txBox="1"/>
          <p:nvPr/>
        </p:nvSpPr>
        <p:spPr>
          <a:xfrm>
            <a:off x="281116" y="1922365"/>
            <a:ext cx="2743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Example: Anheuser-Busch InBev</a:t>
            </a:r>
            <a:endParaRPr b="0" i="0" sz="1800" u="none" cap="none" strike="noStrike">
              <a:solidFill>
                <a:schemeClr val="dk1"/>
              </a:solidFill>
              <a:latin typeface="Calibri"/>
              <a:ea typeface="Calibri"/>
              <a:cs typeface="Calibri"/>
              <a:sym typeface="Calibri"/>
            </a:endParaRPr>
          </a:p>
        </p:txBody>
      </p:sp>
      <p:pic>
        <p:nvPicPr>
          <p:cNvPr descr="A picture containing text, transport, truck&#10;&#10;Description automatically generated" id="222" name="Google Shape;222;g38054e8803b_0_92"/>
          <p:cNvPicPr preferRelativeResize="0"/>
          <p:nvPr/>
        </p:nvPicPr>
        <p:blipFill rotWithShape="1">
          <a:blip r:embed="rId4">
            <a:alphaModFix/>
          </a:blip>
          <a:srcRect b="0" l="0" r="0" t="0"/>
          <a:stretch/>
        </p:blipFill>
        <p:spPr>
          <a:xfrm>
            <a:off x="344957" y="2571702"/>
            <a:ext cx="2292928" cy="1660839"/>
          </a:xfrm>
          <a:prstGeom prst="rect">
            <a:avLst/>
          </a:prstGeom>
          <a:noFill/>
          <a:ln>
            <a:noFill/>
          </a:ln>
        </p:spPr>
      </p:pic>
      <p:sp>
        <p:nvSpPr>
          <p:cNvPr id="223" name="Google Shape;223;g38054e8803b_0_92"/>
          <p:cNvSpPr txBox="1"/>
          <p:nvPr/>
        </p:nvSpPr>
        <p:spPr>
          <a:xfrm>
            <a:off x="224481" y="4232704"/>
            <a:ext cx="2485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https://commons.wikimedia.org/wiki/File:Budweiser_Beer_Anheuser_Busch_InBev_Brewing_Company.jpg</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8054e8803b_0_102"/>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Ways to Use Data</a:t>
            </a:r>
            <a:endParaRPr/>
          </a:p>
        </p:txBody>
      </p:sp>
      <p:sp>
        <p:nvSpPr>
          <p:cNvPr id="229" name="Google Shape;229;g38054e8803b_0_102"/>
          <p:cNvSpPr txBox="1"/>
          <p:nvPr>
            <p:ph idx="1" type="body"/>
          </p:nvPr>
        </p:nvSpPr>
        <p:spPr>
          <a:xfrm>
            <a:off x="341746" y="1200151"/>
            <a:ext cx="2249100" cy="6237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t" bIns="45700" lIns="91425" spcFirstLastPara="1" rIns="91425" wrap="square" tIns="45700">
            <a:normAutofit fontScale="62500" lnSpcReduction="20000"/>
          </a:bodyPr>
          <a:lstStyle/>
          <a:p>
            <a:pPr indent="0" lvl="0" marL="0" rtl="0" algn="ctr">
              <a:lnSpc>
                <a:spcPct val="100000"/>
              </a:lnSpc>
              <a:spcBef>
                <a:spcPts val="0"/>
              </a:spcBef>
              <a:spcAft>
                <a:spcPts val="0"/>
              </a:spcAft>
              <a:buClr>
                <a:schemeClr val="lt1"/>
              </a:buClr>
              <a:buSzPct val="100000"/>
              <a:buNone/>
            </a:pPr>
            <a:r>
              <a:rPr lang="en-US">
                <a:solidFill>
                  <a:schemeClr val="lt1"/>
                </a:solidFill>
                <a:latin typeface="Calibri"/>
                <a:ea typeface="Calibri"/>
                <a:cs typeface="Calibri"/>
                <a:sym typeface="Calibri"/>
              </a:rPr>
              <a:t>Recommend</a:t>
            </a:r>
            <a:endParaRPr/>
          </a:p>
          <a:p>
            <a:pPr indent="-121283" lvl="1" marL="742950" rtl="0" algn="l">
              <a:lnSpc>
                <a:spcPct val="100000"/>
              </a:lnSpc>
              <a:spcBef>
                <a:spcPts val="518"/>
              </a:spcBef>
              <a:spcAft>
                <a:spcPts val="0"/>
              </a:spcAft>
              <a:buClr>
                <a:schemeClr val="dk1"/>
              </a:buClr>
              <a:buSzPct val="100000"/>
              <a:buNone/>
            </a:pPr>
            <a:r>
              <a:t/>
            </a:r>
            <a:endParaRPr/>
          </a:p>
        </p:txBody>
      </p:sp>
      <p:sp>
        <p:nvSpPr>
          <p:cNvPr id="230" name="Google Shape;230;g38054e8803b_0_102"/>
          <p:cNvSpPr txBox="1"/>
          <p:nvPr/>
        </p:nvSpPr>
        <p:spPr>
          <a:xfrm>
            <a:off x="2964873" y="1202460"/>
            <a:ext cx="5724300" cy="6237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rPr b="0" i="0" lang="en-US" sz="1800" u="none" cap="none" strike="noStrike">
                <a:solidFill>
                  <a:schemeClr val="lt1"/>
                </a:solidFill>
                <a:latin typeface="Calibri"/>
                <a:ea typeface="Calibri"/>
                <a:cs typeface="Calibri"/>
                <a:sym typeface="Calibri"/>
              </a:rPr>
              <a:t>Recommend movies, books, or other items for purchasing </a:t>
            </a:r>
            <a:endParaRPr b="0" i="0" sz="1400" u="none" cap="none" strike="noStrike">
              <a:solidFill>
                <a:srgbClr val="000000"/>
              </a:solidFill>
              <a:latin typeface="Arial"/>
              <a:ea typeface="Arial"/>
              <a:cs typeface="Arial"/>
              <a:sym typeface="Arial"/>
            </a:endParaRPr>
          </a:p>
        </p:txBody>
      </p:sp>
      <p:sp>
        <p:nvSpPr>
          <p:cNvPr id="231" name="Google Shape;231;g38054e8803b_0_102"/>
          <p:cNvSpPr txBox="1"/>
          <p:nvPr/>
        </p:nvSpPr>
        <p:spPr>
          <a:xfrm>
            <a:off x="2963718" y="1927513"/>
            <a:ext cx="57162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alibri"/>
                <a:ea typeface="Calibri"/>
                <a:cs typeface="Calibri"/>
                <a:sym typeface="Calibri"/>
              </a:rPr>
              <a:t>Amazon uses a sophisticated recommendation engine that considers purchase history, browsing behavior, items in the cart, and more to suggest products. You'll see "Customers who bought this item also bought," "Recommended for you," and personalized ads. (General knowledge of Amazon's recommendation system)</a:t>
            </a:r>
            <a:endParaRPr b="0" i="1"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1"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1" lang="en-US" sz="1800" u="sng" cap="none" strike="noStrike">
                <a:solidFill>
                  <a:schemeClr val="hlink"/>
                </a:solidFill>
                <a:latin typeface="Calibri"/>
                <a:ea typeface="Calibri"/>
                <a:cs typeface="Calibri"/>
                <a:sym typeface="Calibri"/>
                <a:hlinkClick r:id="rId3"/>
              </a:rPr>
              <a:t>https://www.shiprocket.in/blog/amazon-recommendation/</a:t>
            </a:r>
            <a:endParaRPr b="0" i="1" sz="1800" u="none" cap="none" strike="noStrike">
              <a:solidFill>
                <a:schemeClr val="dk1"/>
              </a:solidFill>
              <a:latin typeface="Calibri"/>
              <a:ea typeface="Calibri"/>
              <a:cs typeface="Calibri"/>
              <a:sym typeface="Calibri"/>
            </a:endParaRPr>
          </a:p>
        </p:txBody>
      </p:sp>
      <p:sp>
        <p:nvSpPr>
          <p:cNvPr id="232" name="Google Shape;232;g38054e8803b_0_102"/>
          <p:cNvSpPr txBox="1"/>
          <p:nvPr/>
        </p:nvSpPr>
        <p:spPr>
          <a:xfrm>
            <a:off x="342900" y="4134880"/>
            <a:ext cx="2331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https://commons.wikimedia.org/wiki/File:Netflix-new-icon.png</a:t>
            </a:r>
            <a:endParaRPr b="0" i="0" sz="1400" u="none" cap="none" strike="noStrike">
              <a:solidFill>
                <a:srgbClr val="000000"/>
              </a:solidFill>
              <a:latin typeface="Arial"/>
              <a:ea typeface="Arial"/>
              <a:cs typeface="Arial"/>
              <a:sym typeface="Arial"/>
            </a:endParaRPr>
          </a:p>
        </p:txBody>
      </p:sp>
      <p:pic>
        <p:nvPicPr>
          <p:cNvPr id="233" name="Google Shape;233;g38054e8803b_0_102"/>
          <p:cNvPicPr preferRelativeResize="0"/>
          <p:nvPr/>
        </p:nvPicPr>
        <p:blipFill rotWithShape="1">
          <a:blip r:embed="rId4">
            <a:alphaModFix/>
          </a:blip>
          <a:srcRect b="0" l="0" r="0" t="0"/>
          <a:stretch/>
        </p:blipFill>
        <p:spPr>
          <a:xfrm>
            <a:off x="405700" y="1960650"/>
            <a:ext cx="2121149" cy="21211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8054e8803b_0_228"/>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Who Can Benefit From Data?</a:t>
            </a:r>
            <a:endParaRPr/>
          </a:p>
        </p:txBody>
      </p:sp>
      <p:sp>
        <p:nvSpPr>
          <p:cNvPr id="239" name="Google Shape;239;g38054e8803b_0_228"/>
          <p:cNvSpPr txBox="1"/>
          <p:nvPr>
            <p:ph idx="1" type="body"/>
          </p:nvPr>
        </p:nvSpPr>
        <p:spPr>
          <a:xfrm>
            <a:off x="457200" y="1177034"/>
            <a:ext cx="6180300" cy="2776500"/>
          </a:xfrm>
          <a:prstGeom prst="rect">
            <a:avLst/>
          </a:prstGeom>
          <a:noFill/>
          <a:ln>
            <a:noFill/>
          </a:ln>
        </p:spPr>
        <p:txBody>
          <a:bodyPr anchorCtr="0" anchor="t" bIns="45700" lIns="91425" spcFirstLastPara="1" rIns="91425" wrap="square" tIns="45700">
            <a:normAutofit lnSpcReduction="10000"/>
          </a:bodyPr>
          <a:lstStyle/>
          <a:p>
            <a:pPr indent="-358140" lvl="0" marL="342900" rtl="0" algn="l">
              <a:lnSpc>
                <a:spcPct val="100000"/>
              </a:lnSpc>
              <a:spcBef>
                <a:spcPts val="0"/>
              </a:spcBef>
              <a:spcAft>
                <a:spcPts val="0"/>
              </a:spcAft>
              <a:buClr>
                <a:schemeClr val="dk1"/>
              </a:buClr>
              <a:buSzPts val="3200"/>
              <a:buChar char="•"/>
            </a:pPr>
            <a:r>
              <a:rPr lang="en-US"/>
              <a:t> You</a:t>
            </a:r>
            <a:endParaRPr/>
          </a:p>
          <a:p>
            <a:pPr indent="-342900" lvl="0" marL="457200" rtl="0" algn="l">
              <a:lnSpc>
                <a:spcPct val="100000"/>
              </a:lnSpc>
              <a:spcBef>
                <a:spcPts val="0"/>
              </a:spcBef>
              <a:spcAft>
                <a:spcPts val="0"/>
              </a:spcAft>
              <a:buSzPts val="1800"/>
              <a:buChar char="•"/>
            </a:pPr>
            <a:r>
              <a:rPr lang="en-US"/>
              <a:t>personal finance</a:t>
            </a:r>
            <a:endParaRPr/>
          </a:p>
          <a:p>
            <a:pPr indent="-342900" lvl="0" marL="457200" rtl="0" algn="l">
              <a:lnSpc>
                <a:spcPct val="100000"/>
              </a:lnSpc>
              <a:spcBef>
                <a:spcPts val="0"/>
              </a:spcBef>
              <a:spcAft>
                <a:spcPts val="0"/>
              </a:spcAft>
              <a:buSzPts val="1800"/>
              <a:buChar char="•"/>
            </a:pPr>
            <a:r>
              <a:rPr lang="en-US"/>
              <a:t>health</a:t>
            </a:r>
            <a:endParaRPr/>
          </a:p>
          <a:p>
            <a:pPr indent="-342900" lvl="0" marL="457200" rtl="0" algn="l">
              <a:lnSpc>
                <a:spcPct val="100000"/>
              </a:lnSpc>
              <a:spcBef>
                <a:spcPts val="0"/>
              </a:spcBef>
              <a:spcAft>
                <a:spcPts val="0"/>
              </a:spcAft>
              <a:buSzPts val="1800"/>
              <a:buChar char="•"/>
            </a:pPr>
            <a:r>
              <a:rPr lang="en-US"/>
              <a:t>social network</a:t>
            </a:r>
            <a:endParaRPr/>
          </a:p>
          <a:p>
            <a:pPr indent="-342900" lvl="0" marL="457200" rtl="0" algn="l">
              <a:lnSpc>
                <a:spcPct val="100000"/>
              </a:lnSpc>
              <a:spcBef>
                <a:spcPts val="0"/>
              </a:spcBef>
              <a:spcAft>
                <a:spcPts val="0"/>
              </a:spcAft>
              <a:buSzPts val="1800"/>
              <a:buChar char="•"/>
            </a:pPr>
            <a:r>
              <a:rPr lang="en-US"/>
              <a:t>professional network (jobs)</a:t>
            </a:r>
            <a:endParaRPr/>
          </a:p>
          <a:p>
            <a:pPr indent="0" lvl="0" marL="0" rtl="0" algn="l">
              <a:lnSpc>
                <a:spcPct val="100000"/>
              </a:lnSpc>
              <a:spcBef>
                <a:spcPts val="0"/>
              </a:spcBef>
              <a:spcAft>
                <a:spcPts val="0"/>
              </a:spcAft>
              <a:buNone/>
            </a:pPr>
            <a:r>
              <a:t/>
            </a:r>
            <a:endParaRPr/>
          </a:p>
        </p:txBody>
      </p:sp>
      <p:sp>
        <p:nvSpPr>
          <p:cNvPr id="240" name="Google Shape;240;g38054e8803b_0_228"/>
          <p:cNvSpPr txBox="1"/>
          <p:nvPr/>
        </p:nvSpPr>
        <p:spPr>
          <a:xfrm>
            <a:off x="6005209" y="4587548"/>
            <a:ext cx="28665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This document is for the exclusive use of Deep Dive bootcamp participants during the bootcamp. This document may not be shared or duplicated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3"/>
          <p:cNvSpPr txBox="1"/>
          <p:nvPr>
            <p:ph type="title"/>
          </p:nvPr>
        </p:nvSpPr>
        <p:spPr>
          <a:xfrm>
            <a:off x="457200" y="205979"/>
            <a:ext cx="8229600" cy="73910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What is Data Science?</a:t>
            </a:r>
            <a:endParaRPr/>
          </a:p>
        </p:txBody>
      </p:sp>
      <p:sp>
        <p:nvSpPr>
          <p:cNvPr id="246" name="Google Shape;246;p13"/>
          <p:cNvSpPr txBox="1"/>
          <p:nvPr/>
        </p:nvSpPr>
        <p:spPr>
          <a:xfrm>
            <a:off x="6005209" y="4587548"/>
            <a:ext cx="2866417"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This document is for the exclusive use of Deep Dive bootcamp participants during the bootcamp. This document may not be shared or duplicated</a:t>
            </a:r>
            <a:endParaRPr b="0" i="0" sz="1400" u="none" cap="none" strike="noStrike">
              <a:solidFill>
                <a:srgbClr val="000000"/>
              </a:solidFill>
              <a:latin typeface="Arial"/>
              <a:ea typeface="Arial"/>
              <a:cs typeface="Arial"/>
              <a:sym typeface="Arial"/>
            </a:endParaRPr>
          </a:p>
        </p:txBody>
      </p:sp>
      <p:sp>
        <p:nvSpPr>
          <p:cNvPr id="247" name="Google Shape;247;p13"/>
          <p:cNvSpPr txBox="1"/>
          <p:nvPr/>
        </p:nvSpPr>
        <p:spPr>
          <a:xfrm>
            <a:off x="4889375" y="945075"/>
            <a:ext cx="4116900" cy="363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Trebuchet MS"/>
                <a:ea typeface="Trebuchet MS"/>
                <a:cs typeface="Trebuchet MS"/>
                <a:sym typeface="Trebuchet MS"/>
              </a:rPr>
              <a:t>Artificial Intelligence (AI)</a:t>
            </a:r>
            <a:endParaRPr b="1"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The development of a machine that can simulate human behavior.  </a:t>
            </a:r>
            <a:endParaRPr b="0"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Trebuchet MS"/>
                <a:ea typeface="Trebuchet MS"/>
                <a:cs typeface="Trebuchet MS"/>
                <a:sym typeface="Trebuchet MS"/>
              </a:rPr>
              <a:t>Machine Learning (ML)</a:t>
            </a:r>
            <a:r>
              <a:rPr b="0" i="0" lang="en-US" sz="1400" u="none" cap="none" strike="noStrike">
                <a:solidFill>
                  <a:srgbClr val="000000"/>
                </a:solidFill>
                <a:latin typeface="Trebuchet MS"/>
                <a:ea typeface="Trebuchet MS"/>
                <a:cs typeface="Trebuchet MS"/>
                <a:sym typeface="Trebuchet MS"/>
              </a:rPr>
              <a:t> </a:t>
            </a:r>
            <a:endParaRPr b="0"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The process of a machine learning from data and making decisions without explicit programming. </a:t>
            </a:r>
            <a:endParaRPr b="0"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Trebuchet MS"/>
                <a:ea typeface="Trebuchet MS"/>
                <a:cs typeface="Trebuchet MS"/>
                <a:sym typeface="Trebuchet MS"/>
              </a:rPr>
              <a:t>Deep Learning (DL)</a:t>
            </a:r>
            <a:endParaRPr b="0"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A term associated with a ML algorithm involving artificial neural networks that work to mimic neurons in the brain.  </a:t>
            </a:r>
            <a:endParaRPr b="0"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Trebuchet MS"/>
                <a:ea typeface="Trebuchet MS"/>
                <a:cs typeface="Trebuchet MS"/>
                <a:sym typeface="Trebuchet MS"/>
              </a:rPr>
              <a:t>Data Science (DS)</a:t>
            </a:r>
            <a:endParaRPr b="1"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The process of using data analytics, statistics, and programming to solve business problems.  </a:t>
            </a:r>
            <a:endParaRPr b="0" i="0" sz="1400" u="none" cap="none" strike="noStrike">
              <a:solidFill>
                <a:srgbClr val="000000"/>
              </a:solidFill>
              <a:latin typeface="Trebuchet MS"/>
              <a:ea typeface="Trebuchet MS"/>
              <a:cs typeface="Trebuchet MS"/>
              <a:sym typeface="Trebuchet MS"/>
            </a:endParaRPr>
          </a:p>
        </p:txBody>
      </p:sp>
      <p:grpSp>
        <p:nvGrpSpPr>
          <p:cNvPr id="248" name="Google Shape;248;p13"/>
          <p:cNvGrpSpPr/>
          <p:nvPr/>
        </p:nvGrpSpPr>
        <p:grpSpPr>
          <a:xfrm>
            <a:off x="404575" y="1039529"/>
            <a:ext cx="4395675" cy="3180374"/>
            <a:chOff x="252175" y="1344329"/>
            <a:chExt cx="4395675" cy="3180374"/>
          </a:xfrm>
        </p:grpSpPr>
        <p:sp>
          <p:nvSpPr>
            <p:cNvPr id="249" name="Google Shape;249;p13"/>
            <p:cNvSpPr/>
            <p:nvPr/>
          </p:nvSpPr>
          <p:spPr>
            <a:xfrm>
              <a:off x="252175" y="1344329"/>
              <a:ext cx="3456300" cy="3114600"/>
            </a:xfrm>
            <a:prstGeom prst="ellipse">
              <a:avLst/>
            </a:prstGeom>
            <a:solidFill>
              <a:srgbClr val="C9DAF8">
                <a:alpha val="62352"/>
              </a:srgbClr>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3"/>
            <p:cNvSpPr/>
            <p:nvPr/>
          </p:nvSpPr>
          <p:spPr>
            <a:xfrm>
              <a:off x="674421" y="1944614"/>
              <a:ext cx="2611800" cy="2514300"/>
            </a:xfrm>
            <a:prstGeom prst="ellipse">
              <a:avLst/>
            </a:prstGeom>
            <a:solidFill>
              <a:srgbClr val="D9EAD3">
                <a:alpha val="61568"/>
              </a:srgbClr>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3"/>
            <p:cNvSpPr/>
            <p:nvPr/>
          </p:nvSpPr>
          <p:spPr>
            <a:xfrm>
              <a:off x="1030609" y="2666843"/>
              <a:ext cx="1899600" cy="1791900"/>
            </a:xfrm>
            <a:prstGeom prst="ellipse">
              <a:avLst/>
            </a:prstGeom>
            <a:solidFill>
              <a:srgbClr val="EA9999">
                <a:alpha val="64705"/>
              </a:srgbClr>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3"/>
            <p:cNvSpPr/>
            <p:nvPr/>
          </p:nvSpPr>
          <p:spPr>
            <a:xfrm>
              <a:off x="2419150" y="2419903"/>
              <a:ext cx="2228700" cy="2104800"/>
            </a:xfrm>
            <a:prstGeom prst="ellipse">
              <a:avLst/>
            </a:prstGeom>
            <a:solidFill>
              <a:srgbClr val="FFE599">
                <a:alpha val="52941"/>
              </a:srgbClr>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3"/>
            <p:cNvSpPr txBox="1"/>
            <p:nvPr/>
          </p:nvSpPr>
          <p:spPr>
            <a:xfrm>
              <a:off x="1720271" y="1446270"/>
              <a:ext cx="5202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rebuchet MS"/>
                  <a:ea typeface="Trebuchet MS"/>
                  <a:cs typeface="Trebuchet MS"/>
                  <a:sym typeface="Trebuchet MS"/>
                </a:rPr>
                <a:t>AI</a:t>
              </a:r>
              <a:endParaRPr b="1" i="0" sz="2000" u="none" cap="none" strike="noStrike">
                <a:solidFill>
                  <a:srgbClr val="000000"/>
                </a:solidFill>
                <a:latin typeface="Trebuchet MS"/>
                <a:ea typeface="Trebuchet MS"/>
                <a:cs typeface="Trebuchet MS"/>
                <a:sym typeface="Trebuchet MS"/>
              </a:endParaRPr>
            </a:p>
          </p:txBody>
        </p:sp>
        <p:sp>
          <p:nvSpPr>
            <p:cNvPr id="254" name="Google Shape;254;p13"/>
            <p:cNvSpPr txBox="1"/>
            <p:nvPr/>
          </p:nvSpPr>
          <p:spPr>
            <a:xfrm>
              <a:off x="1720271" y="2068004"/>
              <a:ext cx="5202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rebuchet MS"/>
                  <a:ea typeface="Trebuchet MS"/>
                  <a:cs typeface="Trebuchet MS"/>
                  <a:sym typeface="Trebuchet MS"/>
                </a:rPr>
                <a:t>ML</a:t>
              </a:r>
              <a:endParaRPr b="1" i="0" sz="2000" u="none" cap="none" strike="noStrike">
                <a:solidFill>
                  <a:srgbClr val="000000"/>
                </a:solidFill>
                <a:latin typeface="Trebuchet MS"/>
                <a:ea typeface="Trebuchet MS"/>
                <a:cs typeface="Trebuchet MS"/>
                <a:sym typeface="Trebuchet MS"/>
              </a:endParaRPr>
            </a:p>
          </p:txBody>
        </p:sp>
        <p:sp>
          <p:nvSpPr>
            <p:cNvPr id="255" name="Google Shape;255;p13"/>
            <p:cNvSpPr txBox="1"/>
            <p:nvPr/>
          </p:nvSpPr>
          <p:spPr>
            <a:xfrm>
              <a:off x="1720271" y="2796608"/>
              <a:ext cx="5202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rebuchet MS"/>
                  <a:ea typeface="Trebuchet MS"/>
                  <a:cs typeface="Trebuchet MS"/>
                  <a:sym typeface="Trebuchet MS"/>
                </a:rPr>
                <a:t>DL</a:t>
              </a:r>
              <a:endParaRPr b="1" i="0" sz="2000" u="none" cap="none" strike="noStrike">
                <a:solidFill>
                  <a:srgbClr val="000000"/>
                </a:solidFill>
                <a:latin typeface="Trebuchet MS"/>
                <a:ea typeface="Trebuchet MS"/>
                <a:cs typeface="Trebuchet MS"/>
                <a:sym typeface="Trebuchet MS"/>
              </a:endParaRPr>
            </a:p>
          </p:txBody>
        </p:sp>
        <p:sp>
          <p:nvSpPr>
            <p:cNvPr id="256" name="Google Shape;256;p13"/>
            <p:cNvSpPr txBox="1"/>
            <p:nvPr/>
          </p:nvSpPr>
          <p:spPr>
            <a:xfrm>
              <a:off x="3305432" y="2582029"/>
              <a:ext cx="5202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rebuchet MS"/>
                  <a:ea typeface="Trebuchet MS"/>
                  <a:cs typeface="Trebuchet MS"/>
                  <a:sym typeface="Trebuchet MS"/>
                </a:rPr>
                <a:t>DS</a:t>
              </a:r>
              <a:endParaRPr b="1" i="0" sz="2000" u="none" cap="none" strike="noStrike">
                <a:solidFill>
                  <a:srgbClr val="000000"/>
                </a:solidFill>
                <a:latin typeface="Trebuchet MS"/>
                <a:ea typeface="Trebuchet MS"/>
                <a:cs typeface="Trebuchet MS"/>
                <a:sym typeface="Trebuchet M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8054e8803b_0_222"/>
          <p:cNvSpPr txBox="1"/>
          <p:nvPr>
            <p:ph type="title"/>
          </p:nvPr>
        </p:nvSpPr>
        <p:spPr>
          <a:xfrm>
            <a:off x="457200" y="205979"/>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What is Data Science?</a:t>
            </a:r>
            <a:endParaRPr/>
          </a:p>
        </p:txBody>
      </p:sp>
      <p:sp>
        <p:nvSpPr>
          <p:cNvPr id="263" name="Google Shape;263;g38054e8803b_0_222"/>
          <p:cNvSpPr txBox="1"/>
          <p:nvPr>
            <p:ph idx="1" type="body"/>
          </p:nvPr>
        </p:nvSpPr>
        <p:spPr>
          <a:xfrm>
            <a:off x="457200" y="1200151"/>
            <a:ext cx="8229600" cy="3394500"/>
          </a:xfrm>
          <a:prstGeom prst="rect">
            <a:avLst/>
          </a:prstGeom>
        </p:spPr>
        <p:txBody>
          <a:bodyPr anchorCtr="0" anchor="t" bIns="45700" lIns="91425" spcFirstLastPara="1" rIns="91425" wrap="square" tIns="45700">
            <a:normAutofit fontScale="70000"/>
          </a:bodyPr>
          <a:lstStyle/>
          <a:p>
            <a:pPr indent="0" lvl="0" marL="0" rtl="0" algn="l">
              <a:spcBef>
                <a:spcPts val="360"/>
              </a:spcBef>
              <a:spcAft>
                <a:spcPts val="0"/>
              </a:spcAft>
              <a:buNone/>
            </a:pPr>
            <a:r>
              <a:rPr lang="en-US"/>
              <a:t>“</a:t>
            </a:r>
            <a:r>
              <a:rPr i="1" lang="en-US"/>
              <a:t>Vocal critics have variously dismissed the term as a superfluous label (after all, what science doesn't involve data?) or a simple buzzword that only exists to salt resumes and catch the eye of overzealous tech recruiters. … In my mind, these critiques miss something important. Data science, despite its hype-laden veneer, is perhaps the best label we have for the cross-disciplinary set of skills that are becoming increasingly important in many applications across industry and academia.</a:t>
            </a:r>
            <a:r>
              <a:rPr lang="en-US"/>
              <a:t>” – Jake VanderPlas in “</a:t>
            </a:r>
            <a:r>
              <a:rPr lang="en-US" u="sng">
                <a:solidFill>
                  <a:schemeClr val="hlink"/>
                </a:solidFill>
                <a:hlinkClick r:id="rId3"/>
              </a:rPr>
              <a:t>Python Data Science Handbook</a:t>
            </a:r>
            <a:r>
              <a:rPr lang="en-US"/>
              <a:t>”</a:t>
            </a:r>
            <a:endParaRPr/>
          </a:p>
          <a:p>
            <a:pPr indent="0" lvl="0" marL="0" rtl="0" algn="l">
              <a:spcBef>
                <a:spcPts val="36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2e2de969da_0_0"/>
          <p:cNvSpPr txBox="1"/>
          <p:nvPr>
            <p:ph type="title"/>
          </p:nvPr>
        </p:nvSpPr>
        <p:spPr>
          <a:xfrm>
            <a:off x="457200" y="205979"/>
            <a:ext cx="8229600" cy="7392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What is Data Science?</a:t>
            </a:r>
            <a:endParaRPr/>
          </a:p>
        </p:txBody>
      </p:sp>
      <p:sp>
        <p:nvSpPr>
          <p:cNvPr id="269" name="Google Shape;269;g32e2de969da_0_0"/>
          <p:cNvSpPr txBox="1"/>
          <p:nvPr/>
        </p:nvSpPr>
        <p:spPr>
          <a:xfrm>
            <a:off x="6005209" y="4587548"/>
            <a:ext cx="28665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This document is for the exclusive use of Deep Dive bootcamp participants during the bootcamp. This document may not be shared or duplicated</a:t>
            </a:r>
            <a:endParaRPr b="0" i="0" sz="1400" u="none" cap="none" strike="noStrike">
              <a:solidFill>
                <a:srgbClr val="000000"/>
              </a:solidFill>
              <a:latin typeface="Arial"/>
              <a:ea typeface="Arial"/>
              <a:cs typeface="Arial"/>
              <a:sym typeface="Arial"/>
            </a:endParaRPr>
          </a:p>
        </p:txBody>
      </p:sp>
      <p:pic>
        <p:nvPicPr>
          <p:cNvPr id="270" name="Google Shape;270;g32e2de969da_0_0"/>
          <p:cNvPicPr preferRelativeResize="0"/>
          <p:nvPr/>
        </p:nvPicPr>
        <p:blipFill rotWithShape="1">
          <a:blip r:embed="rId3">
            <a:alphaModFix/>
          </a:blip>
          <a:srcRect b="0" l="0" r="0" t="0"/>
          <a:stretch/>
        </p:blipFill>
        <p:spPr>
          <a:xfrm>
            <a:off x="834725" y="1047900"/>
            <a:ext cx="3512150" cy="3352500"/>
          </a:xfrm>
          <a:prstGeom prst="rect">
            <a:avLst/>
          </a:prstGeom>
          <a:noFill/>
          <a:ln>
            <a:noFill/>
          </a:ln>
        </p:spPr>
      </p:pic>
      <p:sp>
        <p:nvSpPr>
          <p:cNvPr id="271" name="Google Shape;271;g32e2de969da_0_0"/>
          <p:cNvSpPr txBox="1"/>
          <p:nvPr/>
        </p:nvSpPr>
        <p:spPr>
          <a:xfrm>
            <a:off x="5157025" y="1691025"/>
            <a:ext cx="3318000" cy="191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sng" cap="none" strike="noStrike">
                <a:solidFill>
                  <a:schemeClr val="hlink"/>
                </a:solidFill>
                <a:latin typeface="Calibri"/>
                <a:ea typeface="Calibri"/>
                <a:cs typeface="Calibri"/>
                <a:sym typeface="Calibri"/>
                <a:hlinkClick r:id="rId4"/>
              </a:rPr>
              <a:t>Drew Conway - The Data Science Venn Diagram</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2016-07-21T14:46:59Z</dcterms:created>
  <dc:creator>ZIOMEK, PETER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0x01010016287604575FD74AB5B753513A597C0A</vt:lpwstr>
  </property>
  <property fmtid="{D5CDD505-2E9C-101B-9397-08002B2CF9AE}" pid="3" name="AuthorIds_UIVersion_10240">
    <vt:lpwstr>115</vt:lpwstr>
  </property>
  <property fmtid="{D5CDD505-2E9C-101B-9397-08002B2CF9AE}" pid="4" name="AuthorIds_UIVersion_10752">
    <vt:lpwstr>115</vt:lpwstr>
  </property>
</Properties>
</file>
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i2kScQU2a2CYs5aFboto9JrOgv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dad95c3795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dad95c3795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gdad95c3795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ad95c3795_0_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dad95c3795_0_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dad95c3795_0_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dad95c3795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dad95c3795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dad95c3795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457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648200" y="900113"/>
            <a:ext cx="4038600" cy="2545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10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0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3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 rot="5400000">
            <a:off x="6012656" y="771525"/>
            <a:ext cx="329088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 rot="5400000">
            <a:off x="1821656" y="-1209675"/>
            <a:ext cx="3290888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jp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100000" ty="0" sy="100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" name="Google Shape;1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97" y="-985"/>
            <a:ext cx="9144793" cy="514547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Logistic Regression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457200" y="205979"/>
            <a:ext cx="8229600" cy="6068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959"/>
              <a:buFont typeface="Calibri"/>
              <a:buNone/>
            </a:pPr>
            <a:r>
              <a:rPr lang="en-US" sz="3959"/>
              <a:t>Logistic Regression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08500" y="2476500"/>
            <a:ext cx="1270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608650" y="944450"/>
            <a:ext cx="7997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Logistic regression is used in cases where the response is binary (e.g., yes or no, 1 or 0). Consider an example where we are trying to predict whether someone will pass a test based on the number of hours studied.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Logistic regression is used to model the probability the response falls into those categories.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573300" y="2855600"/>
            <a:ext cx="7997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prediction is made using a threshold of probability. For example, we may predict that the student passes the test if: </a:t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24825" y="3721300"/>
            <a:ext cx="4943475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39925" y="2356275"/>
            <a:ext cx="3905250" cy="40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dad95c3795_0_18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Logistic Model</a:t>
            </a:r>
            <a:endParaRPr/>
          </a:p>
        </p:txBody>
      </p:sp>
      <p:pic>
        <p:nvPicPr>
          <p:cNvPr id="106" name="Google Shape;106;gdad95c3795_0_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3387"/>
            <a:ext cx="4419601" cy="32028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gdad95c3795_0_18"/>
          <p:cNvCxnSpPr/>
          <p:nvPr/>
        </p:nvCxnSpPr>
        <p:spPr>
          <a:xfrm flipH="1" rot="10800000">
            <a:off x="1182050" y="1384450"/>
            <a:ext cx="2992500" cy="2491800"/>
          </a:xfrm>
          <a:prstGeom prst="straightConnector1">
            <a:avLst/>
          </a:prstGeom>
          <a:noFill/>
          <a:ln cap="flat" cmpd="sng" w="9525">
            <a:solidFill>
              <a:srgbClr val="CC412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gdad95c3795_0_18"/>
          <p:cNvSpPr txBox="1"/>
          <p:nvPr/>
        </p:nvSpPr>
        <p:spPr>
          <a:xfrm>
            <a:off x="5100925" y="1235300"/>
            <a:ext cx="3585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we used linear regression to model this, we would get predictions below 0 and above 1, which is not reasonable since we are modeling a probability.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Therefore, we have to use a function that only gives predictions between 0 and 1. 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gdad95c3795_0_18"/>
          <p:cNvSpPr txBox="1"/>
          <p:nvPr/>
        </p:nvSpPr>
        <p:spPr>
          <a:xfrm>
            <a:off x="1139450" y="1597350"/>
            <a:ext cx="101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Linear Fit</a:t>
            </a:r>
            <a:endParaRPr b="0" i="0" sz="1400" u="none" cap="none" strike="noStrike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4F81BD"/>
                </a:solidFill>
                <a:latin typeface="Calibri"/>
                <a:ea typeface="Calibri"/>
                <a:cs typeface="Calibri"/>
                <a:sym typeface="Calibri"/>
              </a:rPr>
              <a:t>Logistic Fit</a:t>
            </a:r>
            <a:endParaRPr b="0" i="0" sz="1400" u="none" cap="none" strike="noStrike">
              <a:solidFill>
                <a:srgbClr val="4F81B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gdad95c3795_0_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1763" y="3100425"/>
            <a:ext cx="3324225" cy="93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 txBox="1"/>
          <p:nvPr>
            <p:ph type="title"/>
          </p:nvPr>
        </p:nvSpPr>
        <p:spPr>
          <a:xfrm>
            <a:off x="457200" y="205979"/>
            <a:ext cx="8229600" cy="445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Logistic Regression Predictions</a:t>
            </a:r>
            <a:endParaRPr sz="3200"/>
          </a:p>
        </p:txBody>
      </p:sp>
      <p:sp>
        <p:nvSpPr>
          <p:cNvPr id="116" name="Google Shape;116;p4"/>
          <p:cNvSpPr txBox="1"/>
          <p:nvPr>
            <p:ph idx="1" type="body"/>
          </p:nvPr>
        </p:nvSpPr>
        <p:spPr>
          <a:xfrm>
            <a:off x="304800" y="852397"/>
            <a:ext cx="4299000" cy="26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Set a decision threshold</a:t>
            </a:r>
            <a:endParaRPr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Fit logistic model. Model fits regression parameters to optimize separation.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-US" sz="2000"/>
              <a:t>Compare the model output to the decision threshold. </a:t>
            </a:r>
            <a:endParaRPr sz="2000"/>
          </a:p>
          <a:p>
            <a:pPr indent="-330200" lvl="1" marL="914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AutoNum type="alphaLcPeriod"/>
            </a:pPr>
            <a:r>
              <a:rPr lang="en-US" sz="1600"/>
              <a:t>Above threshold is class ‘1’</a:t>
            </a:r>
            <a:endParaRPr sz="2800"/>
          </a:p>
          <a:p>
            <a:pPr indent="-330200" lvl="1" marL="9144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AutoNum type="alphaLcPeriod"/>
            </a:pPr>
            <a:r>
              <a:rPr lang="en-US" sz="1600"/>
              <a:t>Below threshold is class ‘0’ 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000"/>
          </a:p>
        </p:txBody>
      </p:sp>
      <p:pic>
        <p:nvPicPr>
          <p:cNvPr descr="Screen Shot 2020-07-30 at 2.29.49 PM.png" id="117" name="Google Shape;11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6032" y="914111"/>
            <a:ext cx="3682295" cy="2559789"/>
          </a:xfrm>
          <a:prstGeom prst="rect">
            <a:avLst/>
          </a:prstGeom>
          <a:noFill/>
          <a:ln cap="flat" cmpd="sng" w="9525">
            <a:solidFill>
              <a:srgbClr val="4F81BD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18" name="Google Shape;118;p4"/>
          <p:cNvCxnSpPr/>
          <p:nvPr/>
        </p:nvCxnSpPr>
        <p:spPr>
          <a:xfrm>
            <a:off x="5092199" y="2166758"/>
            <a:ext cx="3806100" cy="8400"/>
          </a:xfrm>
          <a:prstGeom prst="straightConnector1">
            <a:avLst/>
          </a:prstGeom>
          <a:noFill/>
          <a:ln cap="flat" cmpd="sng" w="254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9" name="Google Shape;119;p4"/>
          <p:cNvSpPr txBox="1"/>
          <p:nvPr/>
        </p:nvSpPr>
        <p:spPr>
          <a:xfrm>
            <a:off x="4498852" y="1984136"/>
            <a:ext cx="67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Decision Boundary</a:t>
            </a:r>
            <a:endParaRPr b="1" i="0" sz="9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1064900" y="3886900"/>
            <a:ext cx="7145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Threshold can be varied if needed for specific requirements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dad95c3795_0_34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Logistic Regression Assumptions</a:t>
            </a:r>
            <a:endParaRPr/>
          </a:p>
        </p:txBody>
      </p:sp>
      <p:sp>
        <p:nvSpPr>
          <p:cNvPr id="127" name="Google Shape;127;gdad95c3795_0_34"/>
          <p:cNvSpPr txBox="1"/>
          <p:nvPr>
            <p:ph idx="1" type="body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Char char="•"/>
            </a:pPr>
            <a:r>
              <a:rPr lang="en-US" sz="2800"/>
              <a:t>Logistic regression does not have assumptions on normality, linearity or constant variance of the predictors. </a:t>
            </a:r>
            <a:endParaRPr sz="28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800"/>
              <a:t>It requires that the response be binary. </a:t>
            </a:r>
            <a:endParaRPr sz="28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800"/>
              <a:t>Assumes independent errors and uncorrelated predictors. </a:t>
            </a:r>
            <a:endParaRPr sz="28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-US" sz="2800"/>
              <a:t>Needs larger sample size than linear regression.</a:t>
            </a:r>
            <a:endParaRPr sz="28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dad95c3795_0_40"/>
          <p:cNvSpPr txBox="1"/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 Note on Binary Data</a:t>
            </a:r>
            <a:endParaRPr/>
          </a:p>
        </p:txBody>
      </p:sp>
      <p:sp>
        <p:nvSpPr>
          <p:cNvPr id="134" name="Google Shape;134;gdad95c3795_0_40"/>
          <p:cNvSpPr txBox="1"/>
          <p:nvPr>
            <p:ph idx="1" type="body"/>
          </p:nvPr>
        </p:nvSpPr>
        <p:spPr>
          <a:xfrm>
            <a:off x="457200" y="1047750"/>
            <a:ext cx="8168700" cy="16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 sz="2300"/>
              <a:t>Binary data contains less information than continuous data</a:t>
            </a:r>
            <a:r>
              <a:rPr lang="en-US" sz="2300"/>
              <a:t>. If you have influence on the data collection process, encourage the collection of continuous data. You can convert continuous data to binary data but you cannot convert binary data to continuous. </a:t>
            </a:r>
            <a:endParaRPr sz="2300"/>
          </a:p>
        </p:txBody>
      </p:sp>
      <p:sp>
        <p:nvSpPr>
          <p:cNvPr id="135" name="Google Shape;135;gdad95c3795_0_40"/>
          <p:cNvSpPr txBox="1"/>
          <p:nvPr/>
        </p:nvSpPr>
        <p:spPr>
          <a:xfrm>
            <a:off x="1501525" y="2853950"/>
            <a:ext cx="626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Ex. Pass vs Fail - Binary Data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Ex. Test Score - Continuous Data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2016-07-21T14:46:59Z</dcterms:created>
  <dc:creator>ZIOMEK, PETER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0x01010060AC0FCB085FA34999103333577D417B</vt:lpwstr>
  </property>
  <property fmtid="{D5CDD505-2E9C-101B-9397-08002B2CF9AE}" pid="3" name="AuthorIds_UIVersion_10240">
    <vt:lpwstr>115</vt:lpwstr>
  </property>
  <property fmtid="{D5CDD505-2E9C-101B-9397-08002B2CF9AE}" pid="4" name="AuthorIds_UIVersion_10752">
    <vt:lpwstr>115</vt:lpwstr>
  </property>
</Properties>
</file>